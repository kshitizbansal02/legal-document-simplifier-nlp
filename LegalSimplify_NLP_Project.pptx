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2137"/>
                </a:solidFill>
                <a:latin typeface="Arial"/>
              </a:defRPr>
            </a:pPr>
            <a:r>
              <a:rPr sz="1300" b="0" i="0" u="none" strike="noStrike">
                <a:solidFill>
                  <a:srgbClr val="0D2137"/>
                </a:solidFill>
                <a:latin typeface="Arial"/>
              </a:rPr>
              <a:t>Readability Score: Before vs After</a:t>
            </a:r>
          </a:p>
        </c:rich>
      </c:tx>
      <c:layout/>
      <c:overlay val="0"/>
    </c:title>
    <c:autoTitleDeleted val="0"/>
    <c:plotArea>
      <c:layout/>
      <c:barChart>
        <c:barDir val="col"/>
        <c:grouping val="clustered"/>
        <c:varyColors val="0"/>
        <c:ser>
          <c:idx val="0"/>
          <c:order val="0"/>
          <c:tx>
            <c:strRef>
              <c:f>Sheet1!$B$1</c:f>
              <c:strCache>
                <c:ptCount val="1"/>
                <c:pt idx="0">
                  <c:v>Flesch Reading Ease</c:v>
                </c:pt>
              </c:strCache>
            </c:strRef>
          </c:tx>
          <c:spPr>
            <a:solidFill>
              <a:srgbClr val="B0363A"/>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Software Licence</c:v>
                  </c:pt>
                  <c:pt idx="1">
                    <c:v>RTI Government Circular</c:v>
                  </c:pt>
                  <c:pt idx="2">
                    <c:v>Tenancy Agreement</c:v>
                  </c:pt>
                </c:lvl>
              </c:multiLvlStrCache>
            </c:multiLvlStrRef>
          </c:cat>
          <c:val>
            <c:numRef>
              <c:f>Sheet1!$B$2:$B$4</c:f>
              <c:numCache>
                <c:formatCode>General</c:formatCode>
                <c:ptCount val="3"/>
                <c:pt idx="0">
                  <c:v>18</c:v>
                </c:pt>
                <c:pt idx="1">
                  <c:v>22</c:v>
                </c:pt>
                <c:pt idx="2">
                  <c:v>15</c:v>
                </c:pt>
              </c:numCache>
            </c:numRef>
          </c:val>
        </c:ser>
        <c:ser>
          <c:idx val="1"/>
          <c:order val="1"/>
          <c:tx>
            <c:strRef>
              <c:f>Sheet1!$C$1</c:f>
              <c:strCache>
                <c:ptCount val="1"/>
                <c:pt idx="0">
                  <c:v>After Simplification</c:v>
                </c:pt>
              </c:strCache>
            </c:strRef>
          </c:tx>
          <c:spPr>
            <a:solidFill>
              <a:srgbClr val="0D7377"/>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Software Licence</c:v>
                  </c:pt>
                  <c:pt idx="1">
                    <c:v>RTI Government Circular</c:v>
                  </c:pt>
                  <c:pt idx="2">
                    <c:v>Tenancy Agreement</c:v>
                  </c:pt>
                </c:lvl>
              </c:multiLvlStrCache>
            </c:multiLvlStrRef>
          </c:cat>
          <c:val>
            <c:numRef>
              <c:f>Sheet1!$C$2:$C$4</c:f>
              <c:numCache>
                <c:formatCode>General</c:formatCode>
                <c:ptCount val="3"/>
                <c:pt idx="0">
                  <c:v>68</c:v>
                </c:pt>
                <c:pt idx="1">
                  <c:v>74</c:v>
                </c:pt>
                <c:pt idx="2">
                  <c:v>65</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7377"/>
          </a:solidFill>
          <a:ln/>
        </p:spPr>
      </p:sp>
      <p:sp>
        <p:nvSpPr>
          <p:cNvPr id="3" name="Text 1"/>
          <p:cNvSpPr/>
          <p:nvPr/>
        </p:nvSpPr>
        <p:spPr>
          <a:xfrm>
            <a:off x="457200" y="822960"/>
            <a:ext cx="7772400" cy="82296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AI-Powered Legal Document</a:t>
            </a:r>
            <a:endParaRPr lang="en-US" sz="3800" dirty="0"/>
          </a:p>
        </p:txBody>
      </p:sp>
      <p:sp>
        <p:nvSpPr>
          <p:cNvPr id="4" name="Text 2"/>
          <p:cNvSpPr/>
          <p:nvPr/>
        </p:nvSpPr>
        <p:spPr>
          <a:xfrm>
            <a:off x="457200" y="1600200"/>
            <a:ext cx="8229600" cy="640080"/>
          </a:xfrm>
          <a:prstGeom prst="rect">
            <a:avLst/>
          </a:prstGeom>
          <a:noFill/>
          <a:ln/>
        </p:spPr>
        <p:txBody>
          <a:bodyPr wrap="square" rtlCol="0" anchor="ctr"/>
          <a:lstStyle/>
          <a:p>
            <a:pPr indent="0" marL="0">
              <a:buNone/>
            </a:pPr>
            <a:r>
              <a:rPr lang="en-US" sz="3000" dirty="0">
                <a:solidFill>
                  <a:srgbClr val="0D7377"/>
                </a:solidFill>
                <a:latin typeface="Cambria" pitchFamily="34" charset="0"/>
                <a:ea typeface="Cambria" pitchFamily="34" charset="-122"/>
                <a:cs typeface="Cambria" pitchFamily="34" charset="-120"/>
              </a:rPr>
              <a:t>Simplification &amp; Explanation System</a:t>
            </a:r>
            <a:endParaRPr lang="en-US" sz="3000" dirty="0"/>
          </a:p>
        </p:txBody>
      </p:sp>
      <p:sp>
        <p:nvSpPr>
          <p:cNvPr id="5" name="Shape 3"/>
          <p:cNvSpPr/>
          <p:nvPr/>
        </p:nvSpPr>
        <p:spPr>
          <a:xfrm>
            <a:off x="457200" y="2331720"/>
            <a:ext cx="2286000" cy="45720"/>
          </a:xfrm>
          <a:prstGeom prst="rect">
            <a:avLst/>
          </a:prstGeom>
          <a:solidFill>
            <a:srgbClr val="0D7377"/>
          </a:solidFill>
          <a:ln/>
        </p:spPr>
      </p:sp>
      <p:sp>
        <p:nvSpPr>
          <p:cNvPr id="6" name="Text 4"/>
          <p:cNvSpPr/>
          <p:nvPr/>
        </p:nvSpPr>
        <p:spPr>
          <a:xfrm>
            <a:off x="457200" y="2514600"/>
            <a:ext cx="8229600" cy="411480"/>
          </a:xfrm>
          <a:prstGeom prst="rect">
            <a:avLst/>
          </a:prstGeom>
          <a:noFill/>
          <a:ln/>
        </p:spPr>
        <p:txBody>
          <a:bodyPr wrap="square" rtlCol="0" anchor="ctr"/>
          <a:lstStyle/>
          <a:p>
            <a:pPr indent="0" marL="0">
              <a:buNone/>
            </a:pPr>
            <a:r>
              <a:rPr lang="en-US" sz="1400" dirty="0">
                <a:solidFill>
                  <a:srgbClr val="CBD5E1"/>
                </a:solidFill>
                <a:latin typeface="Calibri" pitchFamily="34" charset="0"/>
                <a:ea typeface="Calibri" pitchFamily="34" charset="-122"/>
                <a:cs typeface="Calibri" pitchFamily="34" charset="-120"/>
              </a:rPr>
              <a:t>NLP Mini-Project  |  Computer Science (Year 3)</a:t>
            </a:r>
            <a:endParaRPr lang="en-US" sz="1400" dirty="0"/>
          </a:p>
        </p:txBody>
      </p:sp>
      <p:sp>
        <p:nvSpPr>
          <p:cNvPr id="7" name="Shape 5"/>
          <p:cNvSpPr/>
          <p:nvPr/>
        </p:nvSpPr>
        <p:spPr>
          <a:xfrm>
            <a:off x="457200" y="3108960"/>
            <a:ext cx="2011680" cy="457200"/>
          </a:xfrm>
          <a:prstGeom prst="roundRect">
            <a:avLst>
              <a:gd name="adj" fmla="val 24000"/>
            </a:avLst>
          </a:prstGeom>
          <a:solidFill>
            <a:srgbClr val="0D7377">
              <a:alpha val="70000"/>
            </a:srgbClr>
          </a:solidFill>
          <a:ln/>
        </p:spPr>
      </p:sp>
      <p:sp>
        <p:nvSpPr>
          <p:cNvPr id="8" name="Text 6"/>
          <p:cNvSpPr/>
          <p:nvPr/>
        </p:nvSpPr>
        <p:spPr>
          <a:xfrm>
            <a:off x="457200" y="3108960"/>
            <a:ext cx="2011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BART Summarization</a:t>
            </a:r>
            <a:endParaRPr lang="en-US" sz="1100" dirty="0"/>
          </a:p>
        </p:txBody>
      </p:sp>
      <p:sp>
        <p:nvSpPr>
          <p:cNvPr id="9" name="Shape 7"/>
          <p:cNvSpPr/>
          <p:nvPr/>
        </p:nvSpPr>
        <p:spPr>
          <a:xfrm>
            <a:off x="2606040" y="3108960"/>
            <a:ext cx="2011680" cy="457200"/>
          </a:xfrm>
          <a:prstGeom prst="roundRect">
            <a:avLst>
              <a:gd name="adj" fmla="val 24000"/>
            </a:avLst>
          </a:prstGeom>
          <a:solidFill>
            <a:srgbClr val="0D7377">
              <a:alpha val="70000"/>
            </a:srgbClr>
          </a:solidFill>
          <a:ln/>
        </p:spPr>
      </p:sp>
      <p:sp>
        <p:nvSpPr>
          <p:cNvPr id="10" name="Text 8"/>
          <p:cNvSpPr/>
          <p:nvPr/>
        </p:nvSpPr>
        <p:spPr>
          <a:xfrm>
            <a:off x="2606040" y="3108960"/>
            <a:ext cx="2011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T5 Paraphrasing</a:t>
            </a:r>
            <a:endParaRPr lang="en-US" sz="1100" dirty="0"/>
          </a:p>
        </p:txBody>
      </p:sp>
      <p:sp>
        <p:nvSpPr>
          <p:cNvPr id="11" name="Shape 9"/>
          <p:cNvSpPr/>
          <p:nvPr/>
        </p:nvSpPr>
        <p:spPr>
          <a:xfrm>
            <a:off x="4754880" y="3108960"/>
            <a:ext cx="2011680" cy="457200"/>
          </a:xfrm>
          <a:prstGeom prst="roundRect">
            <a:avLst>
              <a:gd name="adj" fmla="val 24000"/>
            </a:avLst>
          </a:prstGeom>
          <a:solidFill>
            <a:srgbClr val="0D7377">
              <a:alpha val="70000"/>
            </a:srgbClr>
          </a:solidFill>
          <a:ln/>
        </p:spPr>
      </p:sp>
      <p:sp>
        <p:nvSpPr>
          <p:cNvPr id="12" name="Text 10"/>
          <p:cNvSpPr/>
          <p:nvPr/>
        </p:nvSpPr>
        <p:spPr>
          <a:xfrm>
            <a:off x="4754880" y="3108960"/>
            <a:ext cx="2011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spaCy NER</a:t>
            </a:r>
            <a:endParaRPr lang="en-US" sz="1100" dirty="0"/>
          </a:p>
        </p:txBody>
      </p:sp>
      <p:sp>
        <p:nvSpPr>
          <p:cNvPr id="13" name="Shape 11"/>
          <p:cNvSpPr/>
          <p:nvPr/>
        </p:nvSpPr>
        <p:spPr>
          <a:xfrm>
            <a:off x="6903720" y="3108960"/>
            <a:ext cx="2011680" cy="457200"/>
          </a:xfrm>
          <a:prstGeom prst="roundRect">
            <a:avLst>
              <a:gd name="adj" fmla="val 24000"/>
            </a:avLst>
          </a:prstGeom>
          <a:solidFill>
            <a:srgbClr val="0D7377">
              <a:alpha val="70000"/>
            </a:srgbClr>
          </a:solidFill>
          <a:ln/>
        </p:spPr>
      </p:sp>
      <p:sp>
        <p:nvSpPr>
          <p:cNvPr id="14" name="Text 12"/>
          <p:cNvSpPr/>
          <p:nvPr/>
        </p:nvSpPr>
        <p:spPr>
          <a:xfrm>
            <a:off x="6903720" y="3108960"/>
            <a:ext cx="2011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Readability Scoring</a:t>
            </a:r>
            <a:endParaRPr lang="en-US" sz="1100" dirty="0"/>
          </a:p>
        </p:txBody>
      </p:sp>
      <p:sp>
        <p:nvSpPr>
          <p:cNvPr id="15" name="Text 13"/>
          <p:cNvSpPr/>
          <p:nvPr/>
        </p:nvSpPr>
        <p:spPr>
          <a:xfrm>
            <a:off x="457200" y="4206240"/>
            <a:ext cx="8229600" cy="457200"/>
          </a:xfrm>
          <a:prstGeom prst="rect">
            <a:avLst/>
          </a:prstGeom>
          <a:noFill/>
          <a:ln/>
        </p:spPr>
        <p:txBody>
          <a:bodyPr wrap="square" rtlCol="0" anchor="ctr"/>
          <a:lstStyle/>
          <a:p>
            <a:pPr algn="ctr" indent="0" marL="0">
              <a:buNone/>
            </a:pPr>
            <a:r>
              <a:rPr lang="en-US" sz="1200" i="1" dirty="0">
                <a:solidFill>
                  <a:srgbClr val="CBD5E1"/>
                </a:solidFill>
                <a:latin typeface="Calibri" pitchFamily="34" charset="0"/>
                <a:ea typeface="Calibri" pitchFamily="34" charset="-122"/>
                <a:cs typeface="Calibri" pitchFamily="34" charset="-120"/>
              </a:rPr>
              <a:t>Transforming complex legal language into plain, accessible English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28600"/>
            <a:ext cx="8412480" cy="594360"/>
          </a:xfrm>
          <a:prstGeom prst="rect">
            <a:avLst/>
          </a:prstGeom>
          <a:noFill/>
          <a:ln/>
        </p:spPr>
        <p:txBody>
          <a:bodyPr wrap="square" rtlCol="0" anchor="ctr"/>
          <a:lstStyle/>
          <a:p>
            <a:pPr indent="0" marL="0">
              <a:buNone/>
            </a:pPr>
            <a:r>
              <a:rPr lang="en-US" sz="2800" b="1" dirty="0">
                <a:solidFill>
                  <a:srgbClr val="0D2137"/>
                </a:solidFill>
                <a:latin typeface="Cambria" pitchFamily="34" charset="0"/>
                <a:ea typeface="Cambria" pitchFamily="34" charset="-122"/>
                <a:cs typeface="Cambria" pitchFamily="34" charset="-120"/>
              </a:rPr>
              <a:t>Problem Statement</a:t>
            </a:r>
            <a:endParaRPr lang="en-US" sz="2800" dirty="0"/>
          </a:p>
        </p:txBody>
      </p:sp>
      <p:sp>
        <p:nvSpPr>
          <p:cNvPr id="3" name="Shape 1"/>
          <p:cNvSpPr/>
          <p:nvPr/>
        </p:nvSpPr>
        <p:spPr>
          <a:xfrm>
            <a:off x="365760" y="804672"/>
            <a:ext cx="8412480" cy="36576"/>
          </a:xfrm>
          <a:prstGeom prst="rect">
            <a:avLst/>
          </a:prstGeom>
          <a:solidFill>
            <a:srgbClr val="0D7377"/>
          </a:solidFill>
          <a:ln/>
        </p:spPr>
      </p:sp>
      <p:sp>
        <p:nvSpPr>
          <p:cNvPr id="4" name="Shape 2"/>
          <p:cNvSpPr/>
          <p:nvPr/>
        </p:nvSpPr>
        <p:spPr>
          <a:xfrm>
            <a:off x="365760" y="1005840"/>
            <a:ext cx="2651760" cy="3383280"/>
          </a:xfrm>
          <a:prstGeom prst="rect">
            <a:avLst/>
          </a:prstGeom>
          <a:solidFill>
            <a:srgbClr val="0D2137"/>
          </a:solidFill>
          <a:ln/>
          <a:effectLst>
            <a:outerShdw sx="100000" sy="100000" kx="0" ky="0" algn="bl" rotWithShape="0" blurRad="101600" dist="38100" dir="8100000">
              <a:srgbClr val="000000">
                <a:alpha val="13000"/>
              </a:srgbClr>
            </a:outerShdw>
          </a:effectLst>
        </p:spPr>
      </p:sp>
      <p:sp>
        <p:nvSpPr>
          <p:cNvPr id="5" name="Text 3"/>
          <p:cNvSpPr/>
          <p:nvPr/>
        </p:nvSpPr>
        <p:spPr>
          <a:xfrm>
            <a:off x="365760" y="1280160"/>
            <a:ext cx="2651760" cy="1005840"/>
          </a:xfrm>
          <a:prstGeom prst="rect">
            <a:avLst/>
          </a:prstGeom>
          <a:noFill/>
          <a:ln/>
        </p:spPr>
        <p:txBody>
          <a:bodyPr wrap="square" rtlCol="0" anchor="ctr"/>
          <a:lstStyle/>
          <a:p>
            <a:pPr algn="ctr" indent="0" marL="0">
              <a:buNone/>
            </a:pPr>
            <a:r>
              <a:rPr lang="en-US" sz="5400" b="1" dirty="0">
                <a:solidFill>
                  <a:srgbClr val="0D7377"/>
                </a:solidFill>
                <a:latin typeface="Cambria" pitchFamily="34" charset="0"/>
                <a:ea typeface="Cambria" pitchFamily="34" charset="-122"/>
                <a:cs typeface="Cambria" pitchFamily="34" charset="-120"/>
              </a:rPr>
              <a:t>72%</a:t>
            </a:r>
            <a:endParaRPr lang="en-US" sz="5400" dirty="0"/>
          </a:p>
        </p:txBody>
      </p:sp>
      <p:sp>
        <p:nvSpPr>
          <p:cNvPr id="6" name="Text 4"/>
          <p:cNvSpPr/>
          <p:nvPr/>
        </p:nvSpPr>
        <p:spPr>
          <a:xfrm>
            <a:off x="365760" y="2286000"/>
            <a:ext cx="2651760" cy="1280160"/>
          </a:xfrm>
          <a:prstGeom prst="rect">
            <a:avLst/>
          </a:prstGeom>
          <a:noFill/>
          <a:ln/>
        </p:spPr>
        <p:txBody>
          <a:bodyPr wrap="square"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of citizens cannot</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understand standard</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government documents</a:t>
            </a:r>
            <a:endParaRPr lang="en-US" sz="1300" dirty="0"/>
          </a:p>
        </p:txBody>
      </p:sp>
      <p:sp>
        <p:nvSpPr>
          <p:cNvPr id="7" name="Text 5"/>
          <p:cNvSpPr/>
          <p:nvPr/>
        </p:nvSpPr>
        <p:spPr>
          <a:xfrm>
            <a:off x="365760" y="4114800"/>
            <a:ext cx="2651760" cy="228600"/>
          </a:xfrm>
          <a:prstGeom prst="rect">
            <a:avLst/>
          </a:prstGeom>
          <a:noFill/>
          <a:ln/>
        </p:spPr>
        <p:txBody>
          <a:bodyPr wrap="square" rtlCol="0" anchor="ctr"/>
          <a:lstStyle/>
          <a:p>
            <a:pPr algn="ctr" indent="0" marL="0">
              <a:buNone/>
            </a:pPr>
            <a:r>
              <a:rPr lang="en-US" sz="900" i="1" dirty="0">
                <a:solidFill>
                  <a:srgbClr val="CBD5E1"/>
                </a:solidFill>
                <a:latin typeface="Calibri" pitchFamily="34" charset="0"/>
                <a:ea typeface="Calibri" pitchFamily="34" charset="-122"/>
                <a:cs typeface="Calibri" pitchFamily="34" charset="-120"/>
              </a:rPr>
              <a:t>Source: Legal Literacy Surveys</a:t>
            </a:r>
            <a:endParaRPr lang="en-US" sz="900" dirty="0"/>
          </a:p>
        </p:txBody>
      </p:sp>
      <p:sp>
        <p:nvSpPr>
          <p:cNvPr id="8" name="Shape 6"/>
          <p:cNvSpPr/>
          <p:nvPr/>
        </p:nvSpPr>
        <p:spPr>
          <a:xfrm>
            <a:off x="3246120" y="1005840"/>
            <a:ext cx="5532120" cy="10058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9" name="Shape 7"/>
          <p:cNvSpPr/>
          <p:nvPr/>
        </p:nvSpPr>
        <p:spPr>
          <a:xfrm>
            <a:off x="3246120" y="1005840"/>
            <a:ext cx="73152" cy="1005840"/>
          </a:xfrm>
          <a:prstGeom prst="rect">
            <a:avLst/>
          </a:prstGeom>
          <a:solidFill>
            <a:srgbClr val="0D7377"/>
          </a:solidFill>
          <a:ln/>
        </p:spPr>
      </p:sp>
      <p:sp>
        <p:nvSpPr>
          <p:cNvPr id="10" name="Text 8"/>
          <p:cNvSpPr/>
          <p:nvPr/>
        </p:nvSpPr>
        <p:spPr>
          <a:xfrm>
            <a:off x="3429000" y="1078992"/>
            <a:ext cx="5212080" cy="320040"/>
          </a:xfrm>
          <a:prstGeom prst="rect">
            <a:avLst/>
          </a:prstGeom>
          <a:noFill/>
          <a:ln/>
        </p:spPr>
        <p:txBody>
          <a:bodyPr wrap="square" rtlCol="0" anchor="ctr"/>
          <a:lstStyle/>
          <a:p>
            <a:pPr indent="0" marL="0">
              <a:buNone/>
            </a:pPr>
            <a:r>
              <a:rPr lang="en-US" sz="1400" b="1" dirty="0">
                <a:solidFill>
                  <a:srgbClr val="0D2137"/>
                </a:solidFill>
                <a:latin typeface="Cambria" pitchFamily="34" charset="0"/>
                <a:ea typeface="Cambria" pitchFamily="34" charset="-122"/>
                <a:cs typeface="Cambria" pitchFamily="34" charset="-120"/>
              </a:rPr>
              <a:t>📜  Dense Legalese</a:t>
            </a:r>
            <a:endParaRPr lang="en-US" sz="1400" dirty="0"/>
          </a:p>
        </p:txBody>
      </p:sp>
      <p:sp>
        <p:nvSpPr>
          <p:cNvPr id="11" name="Text 9"/>
          <p:cNvSpPr/>
          <p:nvPr/>
        </p:nvSpPr>
        <p:spPr>
          <a:xfrm>
            <a:off x="3429000" y="1389888"/>
            <a:ext cx="5212080" cy="5486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Legal text uses archaic vocabulary, Latin phrases, and convoluted sentence structures averaging 40+ words per sentence.</a:t>
            </a:r>
            <a:endParaRPr lang="en-US" sz="1100" dirty="0"/>
          </a:p>
        </p:txBody>
      </p:sp>
      <p:sp>
        <p:nvSpPr>
          <p:cNvPr id="12" name="Shape 10"/>
          <p:cNvSpPr/>
          <p:nvPr/>
        </p:nvSpPr>
        <p:spPr>
          <a:xfrm>
            <a:off x="3246120" y="2148840"/>
            <a:ext cx="5532120" cy="10058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3" name="Shape 11"/>
          <p:cNvSpPr/>
          <p:nvPr/>
        </p:nvSpPr>
        <p:spPr>
          <a:xfrm>
            <a:off x="3246120" y="2148840"/>
            <a:ext cx="73152" cy="1005840"/>
          </a:xfrm>
          <a:prstGeom prst="rect">
            <a:avLst/>
          </a:prstGeom>
          <a:solidFill>
            <a:srgbClr val="0D7377"/>
          </a:solidFill>
          <a:ln/>
        </p:spPr>
      </p:sp>
      <p:sp>
        <p:nvSpPr>
          <p:cNvPr id="14" name="Text 12"/>
          <p:cNvSpPr/>
          <p:nvPr/>
        </p:nvSpPr>
        <p:spPr>
          <a:xfrm>
            <a:off x="3429000" y="2221992"/>
            <a:ext cx="5212080" cy="320040"/>
          </a:xfrm>
          <a:prstGeom prst="rect">
            <a:avLst/>
          </a:prstGeom>
          <a:noFill/>
          <a:ln/>
        </p:spPr>
        <p:txBody>
          <a:bodyPr wrap="square" rtlCol="0" anchor="ctr"/>
          <a:lstStyle/>
          <a:p>
            <a:pPr indent="0" marL="0">
              <a:buNone/>
            </a:pPr>
            <a:r>
              <a:rPr lang="en-US" sz="1400" b="1" dirty="0">
                <a:solidFill>
                  <a:srgbClr val="0D2137"/>
                </a:solidFill>
                <a:latin typeface="Cambria" pitchFamily="34" charset="0"/>
                <a:ea typeface="Cambria" pitchFamily="34" charset="-122"/>
                <a:cs typeface="Cambria" pitchFamily="34" charset="-120"/>
              </a:rPr>
              <a:t>🔍  Low Accessibility</a:t>
            </a:r>
            <a:endParaRPr lang="en-US" sz="1400" dirty="0"/>
          </a:p>
        </p:txBody>
      </p:sp>
      <p:sp>
        <p:nvSpPr>
          <p:cNvPr id="15" name="Text 13"/>
          <p:cNvSpPr/>
          <p:nvPr/>
        </p:nvSpPr>
        <p:spPr>
          <a:xfrm>
            <a:off x="3429000" y="2532888"/>
            <a:ext cx="5212080" cy="5486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People without legal education cannot interpret contracts, government notices, or court orders effectively.</a:t>
            </a:r>
            <a:endParaRPr lang="en-US" sz="1100" dirty="0"/>
          </a:p>
        </p:txBody>
      </p:sp>
      <p:sp>
        <p:nvSpPr>
          <p:cNvPr id="16" name="Shape 14"/>
          <p:cNvSpPr/>
          <p:nvPr/>
        </p:nvSpPr>
        <p:spPr>
          <a:xfrm>
            <a:off x="3246120" y="3291840"/>
            <a:ext cx="5532120" cy="10058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7" name="Shape 15"/>
          <p:cNvSpPr/>
          <p:nvPr/>
        </p:nvSpPr>
        <p:spPr>
          <a:xfrm>
            <a:off x="3246120" y="3291840"/>
            <a:ext cx="73152" cy="1005840"/>
          </a:xfrm>
          <a:prstGeom prst="rect">
            <a:avLst/>
          </a:prstGeom>
          <a:solidFill>
            <a:srgbClr val="0D7377"/>
          </a:solidFill>
          <a:ln/>
        </p:spPr>
      </p:sp>
      <p:sp>
        <p:nvSpPr>
          <p:cNvPr id="18" name="Text 16"/>
          <p:cNvSpPr/>
          <p:nvPr/>
        </p:nvSpPr>
        <p:spPr>
          <a:xfrm>
            <a:off x="3429000" y="3364992"/>
            <a:ext cx="5212080" cy="320040"/>
          </a:xfrm>
          <a:prstGeom prst="rect">
            <a:avLst/>
          </a:prstGeom>
          <a:noFill/>
          <a:ln/>
        </p:spPr>
        <p:txBody>
          <a:bodyPr wrap="square" rtlCol="0" anchor="ctr"/>
          <a:lstStyle/>
          <a:p>
            <a:pPr indent="0" marL="0">
              <a:buNone/>
            </a:pPr>
            <a:r>
              <a:rPr lang="en-US" sz="1400" b="1" dirty="0">
                <a:solidFill>
                  <a:srgbClr val="0D2137"/>
                </a:solidFill>
                <a:latin typeface="Cambria" pitchFamily="34" charset="0"/>
                <a:ea typeface="Cambria" pitchFamily="34" charset="-122"/>
                <a:cs typeface="Cambria" pitchFamily="34" charset="-120"/>
              </a:rPr>
              <a:t>⚠️  Serious Consequences</a:t>
            </a:r>
            <a:endParaRPr lang="en-US" sz="1400" dirty="0"/>
          </a:p>
        </p:txBody>
      </p:sp>
      <p:sp>
        <p:nvSpPr>
          <p:cNvPr id="19" name="Text 17"/>
          <p:cNvSpPr/>
          <p:nvPr/>
        </p:nvSpPr>
        <p:spPr>
          <a:xfrm>
            <a:off x="3429000" y="3675888"/>
            <a:ext cx="5212080" cy="5486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Misunderstanding legal documents leads to financial loss, missed rights, and legal penalties.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28600"/>
            <a:ext cx="8412480" cy="594360"/>
          </a:xfrm>
          <a:prstGeom prst="rect">
            <a:avLst/>
          </a:prstGeom>
          <a:noFill/>
          <a:ln/>
        </p:spPr>
        <p:txBody>
          <a:bodyPr wrap="square" rtlCol="0" anchor="ctr"/>
          <a:lstStyle/>
          <a:p>
            <a:pPr indent="0" marL="0">
              <a:buNone/>
            </a:pPr>
            <a:r>
              <a:rPr lang="en-US" sz="2800" b="1" dirty="0">
                <a:solidFill>
                  <a:srgbClr val="0D2137"/>
                </a:solidFill>
                <a:latin typeface="Cambria" pitchFamily="34" charset="0"/>
                <a:ea typeface="Cambria" pitchFamily="34" charset="-122"/>
                <a:cs typeface="Cambria" pitchFamily="34" charset="-120"/>
              </a:rPr>
              <a:t>Industry Gap</a:t>
            </a:r>
            <a:endParaRPr lang="en-US" sz="2800" dirty="0"/>
          </a:p>
        </p:txBody>
      </p:sp>
      <p:sp>
        <p:nvSpPr>
          <p:cNvPr id="3" name="Shape 1"/>
          <p:cNvSpPr/>
          <p:nvPr/>
        </p:nvSpPr>
        <p:spPr>
          <a:xfrm>
            <a:off x="365760" y="804672"/>
            <a:ext cx="8412480" cy="36576"/>
          </a:xfrm>
          <a:prstGeom prst="rect">
            <a:avLst/>
          </a:prstGeom>
          <a:solidFill>
            <a:srgbClr val="0D7377"/>
          </a:solidFill>
          <a:ln/>
        </p:spPr>
      </p:sp>
      <p:sp>
        <p:nvSpPr>
          <p:cNvPr id="4" name="Shape 2"/>
          <p:cNvSpPr/>
          <p:nvPr/>
        </p:nvSpPr>
        <p:spPr>
          <a:xfrm>
            <a:off x="365760" y="1005840"/>
            <a:ext cx="4023360" cy="3566160"/>
          </a:xfrm>
          <a:prstGeom prst="rect">
            <a:avLst/>
          </a:prstGeom>
          <a:solidFill>
            <a:srgbClr val="0D2137"/>
          </a:solidFill>
          <a:ln/>
          <a:effectLst>
            <a:outerShdw sx="100000" sy="100000" kx="0" ky="0" algn="bl" rotWithShape="0" blurRad="101600" dist="38100" dir="8100000">
              <a:srgbClr val="000000">
                <a:alpha val="13000"/>
              </a:srgbClr>
            </a:outerShdw>
          </a:effectLst>
        </p:spPr>
      </p:sp>
      <p:sp>
        <p:nvSpPr>
          <p:cNvPr id="5" name="Text 3"/>
          <p:cNvSpPr/>
          <p:nvPr/>
        </p:nvSpPr>
        <p:spPr>
          <a:xfrm>
            <a:off x="457200" y="1097280"/>
            <a:ext cx="3840480" cy="457200"/>
          </a:xfrm>
          <a:prstGeom prst="rect">
            <a:avLst/>
          </a:prstGeom>
          <a:noFill/>
          <a:ln/>
        </p:spPr>
        <p:txBody>
          <a:bodyPr wrap="square" rtlCol="0" anchor="ctr"/>
          <a:lstStyle/>
          <a:p>
            <a:pPr indent="0" marL="0">
              <a:buNone/>
            </a:pPr>
            <a:r>
              <a:rPr lang="en-US" sz="1500" b="1" dirty="0">
                <a:solidFill>
                  <a:srgbClr val="B0363A"/>
                </a:solidFill>
                <a:latin typeface="Cambria" pitchFamily="34" charset="0"/>
                <a:ea typeface="Cambria" pitchFamily="34" charset="-122"/>
                <a:cs typeface="Cambria" pitchFamily="34" charset="-120"/>
              </a:rPr>
              <a:t>❌  Existing Solutions</a:t>
            </a:r>
            <a:endParaRPr lang="en-US" sz="1500" dirty="0"/>
          </a:p>
        </p:txBody>
      </p:sp>
      <p:sp>
        <p:nvSpPr>
          <p:cNvPr id="6" name="Text 4"/>
          <p:cNvSpPr/>
          <p:nvPr/>
        </p:nvSpPr>
        <p:spPr>
          <a:xfrm>
            <a:off x="457200" y="1627632"/>
            <a:ext cx="3840480" cy="438912"/>
          </a:xfrm>
          <a:prstGeom prst="rect">
            <a:avLst/>
          </a:prstGeom>
          <a:noFill/>
          <a:ln/>
        </p:spPr>
        <p:txBody>
          <a:bodyPr wrap="square" rtlCol="0" anchor="ctr"/>
          <a:lstStyle/>
          <a:p>
            <a:pPr indent="0" marL="0">
              <a:buNone/>
            </a:pPr>
            <a:r>
              <a:rPr lang="en-US" sz="1200" b="1" dirty="0">
                <a:solidFill>
                  <a:srgbClr val="B0363A"/>
                </a:solidFill>
                <a:latin typeface="Calibri" pitchFamily="34" charset="0"/>
                <a:ea typeface="Calibri" pitchFamily="34" charset="-122"/>
                <a:cs typeface="Calibri" pitchFamily="34" charset="-120"/>
              </a:rPr>
              <a:t>•  </a:t>
            </a:r>
            <a:pPr indent="0" marL="0">
              <a:buNone/>
            </a:pPr>
            <a:r>
              <a:rPr lang="en-US" sz="1200" dirty="0">
                <a:solidFill>
                  <a:srgbClr val="CBD5E1"/>
                </a:solidFill>
                <a:latin typeface="Calibri" pitchFamily="34" charset="0"/>
                <a:ea typeface="Calibri" pitchFamily="34" charset="-122"/>
                <a:cs typeface="Calibri" pitchFamily="34" charset="-120"/>
              </a:rPr>
              <a:t>Manual legal aid – expensive &amp; limited reach</a:t>
            </a:r>
            <a:endParaRPr lang="en-US" sz="1200" dirty="0"/>
          </a:p>
        </p:txBody>
      </p:sp>
      <p:sp>
        <p:nvSpPr>
          <p:cNvPr id="7" name="Text 5"/>
          <p:cNvSpPr/>
          <p:nvPr/>
        </p:nvSpPr>
        <p:spPr>
          <a:xfrm>
            <a:off x="457200" y="2139696"/>
            <a:ext cx="3840480" cy="438912"/>
          </a:xfrm>
          <a:prstGeom prst="rect">
            <a:avLst/>
          </a:prstGeom>
          <a:noFill/>
          <a:ln/>
        </p:spPr>
        <p:txBody>
          <a:bodyPr wrap="square" rtlCol="0" anchor="ctr"/>
          <a:lstStyle/>
          <a:p>
            <a:pPr indent="0" marL="0">
              <a:buNone/>
            </a:pPr>
            <a:r>
              <a:rPr lang="en-US" sz="1200" b="1" dirty="0">
                <a:solidFill>
                  <a:srgbClr val="B0363A"/>
                </a:solidFill>
                <a:latin typeface="Calibri" pitchFamily="34" charset="0"/>
                <a:ea typeface="Calibri" pitchFamily="34" charset="-122"/>
                <a:cs typeface="Calibri" pitchFamily="34" charset="-120"/>
              </a:rPr>
              <a:t>•  </a:t>
            </a:r>
            <a:pPr indent="0" marL="0">
              <a:buNone/>
            </a:pPr>
            <a:r>
              <a:rPr lang="en-US" sz="1200" dirty="0">
                <a:solidFill>
                  <a:srgbClr val="CBD5E1"/>
                </a:solidFill>
                <a:latin typeface="Calibri" pitchFamily="34" charset="0"/>
                <a:ea typeface="Calibri" pitchFamily="34" charset="-122"/>
                <a:cs typeface="Calibri" pitchFamily="34" charset="-120"/>
              </a:rPr>
              <a:t>Static FAQs – generic, not context-aware</a:t>
            </a:r>
            <a:endParaRPr lang="en-US" sz="1200" dirty="0"/>
          </a:p>
        </p:txBody>
      </p:sp>
      <p:sp>
        <p:nvSpPr>
          <p:cNvPr id="8" name="Text 6"/>
          <p:cNvSpPr/>
          <p:nvPr/>
        </p:nvSpPr>
        <p:spPr>
          <a:xfrm>
            <a:off x="457200" y="2651760"/>
            <a:ext cx="3840480" cy="438912"/>
          </a:xfrm>
          <a:prstGeom prst="rect">
            <a:avLst/>
          </a:prstGeom>
          <a:noFill/>
          <a:ln/>
        </p:spPr>
        <p:txBody>
          <a:bodyPr wrap="square" rtlCol="0" anchor="ctr"/>
          <a:lstStyle/>
          <a:p>
            <a:pPr indent="0" marL="0">
              <a:buNone/>
            </a:pPr>
            <a:r>
              <a:rPr lang="en-US" sz="1200" b="1" dirty="0">
                <a:solidFill>
                  <a:srgbClr val="B0363A"/>
                </a:solidFill>
                <a:latin typeface="Calibri" pitchFamily="34" charset="0"/>
                <a:ea typeface="Calibri" pitchFamily="34" charset="-122"/>
                <a:cs typeface="Calibri" pitchFamily="34" charset="-120"/>
              </a:rPr>
              <a:t>•  </a:t>
            </a:r>
            <a:pPr indent="0" marL="0">
              <a:buNone/>
            </a:pPr>
            <a:r>
              <a:rPr lang="en-US" sz="1200" dirty="0">
                <a:solidFill>
                  <a:srgbClr val="CBD5E1"/>
                </a:solidFill>
                <a:latin typeface="Calibri" pitchFamily="34" charset="0"/>
                <a:ea typeface="Calibri" pitchFamily="34" charset="-122"/>
                <a:cs typeface="Calibri" pitchFamily="34" charset="-120"/>
              </a:rPr>
              <a:t>Basic keyword search – no comprehension</a:t>
            </a:r>
            <a:endParaRPr lang="en-US" sz="1200" dirty="0"/>
          </a:p>
        </p:txBody>
      </p:sp>
      <p:sp>
        <p:nvSpPr>
          <p:cNvPr id="9" name="Text 7"/>
          <p:cNvSpPr/>
          <p:nvPr/>
        </p:nvSpPr>
        <p:spPr>
          <a:xfrm>
            <a:off x="457200" y="3163824"/>
            <a:ext cx="3840480" cy="438912"/>
          </a:xfrm>
          <a:prstGeom prst="rect">
            <a:avLst/>
          </a:prstGeom>
          <a:noFill/>
          <a:ln/>
        </p:spPr>
        <p:txBody>
          <a:bodyPr wrap="square" rtlCol="0" anchor="ctr"/>
          <a:lstStyle/>
          <a:p>
            <a:pPr indent="0" marL="0">
              <a:buNone/>
            </a:pPr>
            <a:r>
              <a:rPr lang="en-US" sz="1200" b="1" dirty="0">
                <a:solidFill>
                  <a:srgbClr val="B0363A"/>
                </a:solidFill>
                <a:latin typeface="Calibri" pitchFamily="34" charset="0"/>
                <a:ea typeface="Calibri" pitchFamily="34" charset="-122"/>
                <a:cs typeface="Calibri" pitchFamily="34" charset="-120"/>
              </a:rPr>
              <a:t>•  </a:t>
            </a:r>
            <a:pPr indent="0" marL="0">
              <a:buNone/>
            </a:pPr>
            <a:r>
              <a:rPr lang="en-US" sz="1200" dirty="0">
                <a:solidFill>
                  <a:srgbClr val="CBD5E1"/>
                </a:solidFill>
                <a:latin typeface="Calibri" pitchFamily="34" charset="0"/>
                <a:ea typeface="Calibri" pitchFamily="34" charset="-122"/>
                <a:cs typeface="Calibri" pitchFamily="34" charset="-120"/>
              </a:rPr>
              <a:t>Human lawyers – unaffordable for common people</a:t>
            </a:r>
            <a:endParaRPr lang="en-US" sz="1200" dirty="0"/>
          </a:p>
        </p:txBody>
      </p:sp>
      <p:sp>
        <p:nvSpPr>
          <p:cNvPr id="10" name="Text 8"/>
          <p:cNvSpPr/>
          <p:nvPr/>
        </p:nvSpPr>
        <p:spPr>
          <a:xfrm>
            <a:off x="457200" y="3675888"/>
            <a:ext cx="3840480" cy="438912"/>
          </a:xfrm>
          <a:prstGeom prst="rect">
            <a:avLst/>
          </a:prstGeom>
          <a:noFill/>
          <a:ln/>
        </p:spPr>
        <p:txBody>
          <a:bodyPr wrap="square" rtlCol="0" anchor="ctr"/>
          <a:lstStyle/>
          <a:p>
            <a:pPr indent="0" marL="0">
              <a:buNone/>
            </a:pPr>
            <a:r>
              <a:rPr lang="en-US" sz="1200" b="1" dirty="0">
                <a:solidFill>
                  <a:srgbClr val="B0363A"/>
                </a:solidFill>
                <a:latin typeface="Calibri" pitchFamily="34" charset="0"/>
                <a:ea typeface="Calibri" pitchFamily="34" charset="-122"/>
                <a:cs typeface="Calibri" pitchFamily="34" charset="-120"/>
              </a:rPr>
              <a:t>•  </a:t>
            </a:r>
            <a:pPr indent="0" marL="0">
              <a:buNone/>
            </a:pPr>
            <a:r>
              <a:rPr lang="en-US" sz="1200" dirty="0">
                <a:solidFill>
                  <a:srgbClr val="CBD5E1"/>
                </a:solidFill>
                <a:latin typeface="Calibri" pitchFamily="34" charset="0"/>
                <a:ea typeface="Calibri" pitchFamily="34" charset="-122"/>
                <a:cs typeface="Calibri" pitchFamily="34" charset="-120"/>
              </a:rPr>
              <a:t>No real-time simplification tools available</a:t>
            </a:r>
            <a:endParaRPr lang="en-US" sz="1200" dirty="0"/>
          </a:p>
        </p:txBody>
      </p:sp>
      <p:sp>
        <p:nvSpPr>
          <p:cNvPr id="11" name="Shape 9"/>
          <p:cNvSpPr/>
          <p:nvPr/>
        </p:nvSpPr>
        <p:spPr>
          <a:xfrm>
            <a:off x="4709160" y="1005840"/>
            <a:ext cx="4069080" cy="3566160"/>
          </a:xfrm>
          <a:prstGeom prst="rect">
            <a:avLst/>
          </a:prstGeom>
          <a:solidFill>
            <a:srgbClr val="0D7377"/>
          </a:solidFill>
          <a:ln/>
          <a:effectLst>
            <a:outerShdw sx="100000" sy="100000" kx="0" ky="0" algn="bl" rotWithShape="0" blurRad="101600" dist="38100" dir="8100000">
              <a:srgbClr val="000000">
                <a:alpha val="13000"/>
              </a:srgbClr>
            </a:outerShdw>
          </a:effectLst>
        </p:spPr>
      </p:sp>
      <p:sp>
        <p:nvSpPr>
          <p:cNvPr id="12" name="Text 10"/>
          <p:cNvSpPr/>
          <p:nvPr/>
        </p:nvSpPr>
        <p:spPr>
          <a:xfrm>
            <a:off x="4800600" y="1097280"/>
            <a:ext cx="388620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  Our NLP Solution</a:t>
            </a:r>
            <a:endParaRPr lang="en-US" sz="1500" dirty="0"/>
          </a:p>
        </p:txBody>
      </p:sp>
      <p:sp>
        <p:nvSpPr>
          <p:cNvPr id="13" name="Text 11"/>
          <p:cNvSpPr/>
          <p:nvPr/>
        </p:nvSpPr>
        <p:spPr>
          <a:xfrm>
            <a:off x="4800600" y="1627632"/>
            <a:ext cx="3886200" cy="43891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alibri" pitchFamily="34" charset="0"/>
                <a:ea typeface="Calibri" pitchFamily="34" charset="-122"/>
                <a:cs typeface="Calibri" pitchFamily="34" charset="-120"/>
              </a:rPr>
              <a:t>Automated – scales to millions of documents</a:t>
            </a:r>
            <a:endParaRPr lang="en-US" sz="1200" dirty="0"/>
          </a:p>
        </p:txBody>
      </p:sp>
      <p:sp>
        <p:nvSpPr>
          <p:cNvPr id="14" name="Text 12"/>
          <p:cNvSpPr/>
          <p:nvPr/>
        </p:nvSpPr>
        <p:spPr>
          <a:xfrm>
            <a:off x="4800600" y="2139696"/>
            <a:ext cx="3886200" cy="43891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alibri" pitchFamily="34" charset="0"/>
                <a:ea typeface="Calibri" pitchFamily="34" charset="-122"/>
                <a:cs typeface="Calibri" pitchFamily="34" charset="-120"/>
              </a:rPr>
              <a:t>Abstractive – understands context, not keywords</a:t>
            </a:r>
            <a:endParaRPr lang="en-US" sz="1200" dirty="0"/>
          </a:p>
        </p:txBody>
      </p:sp>
      <p:sp>
        <p:nvSpPr>
          <p:cNvPr id="15" name="Text 13"/>
          <p:cNvSpPr/>
          <p:nvPr/>
        </p:nvSpPr>
        <p:spPr>
          <a:xfrm>
            <a:off x="4800600" y="2651760"/>
            <a:ext cx="3886200" cy="43891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alibri" pitchFamily="34" charset="0"/>
                <a:ea typeface="Calibri" pitchFamily="34" charset="-122"/>
                <a:cs typeface="Calibri" pitchFamily="34" charset="-120"/>
              </a:rPr>
              <a:t>Real-time – instant plain-English output</a:t>
            </a:r>
            <a:endParaRPr lang="en-US" sz="1200" dirty="0"/>
          </a:p>
        </p:txBody>
      </p:sp>
      <p:sp>
        <p:nvSpPr>
          <p:cNvPr id="16" name="Text 14"/>
          <p:cNvSpPr/>
          <p:nvPr/>
        </p:nvSpPr>
        <p:spPr>
          <a:xfrm>
            <a:off x="4800600" y="3163824"/>
            <a:ext cx="3886200" cy="43891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alibri" pitchFamily="34" charset="0"/>
                <a:ea typeface="Calibri" pitchFamily="34" charset="-122"/>
                <a:cs typeface="Calibri" pitchFamily="34" charset="-120"/>
              </a:rPr>
              <a:t>Free &amp; open – democratises legal literacy</a:t>
            </a:r>
            <a:endParaRPr lang="en-US" sz="1200" dirty="0"/>
          </a:p>
        </p:txBody>
      </p:sp>
      <p:sp>
        <p:nvSpPr>
          <p:cNvPr id="17" name="Text 15"/>
          <p:cNvSpPr/>
          <p:nvPr/>
        </p:nvSpPr>
        <p:spPr>
          <a:xfrm>
            <a:off x="4800600" y="3675888"/>
            <a:ext cx="3886200" cy="43891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alibri" pitchFamily="34" charset="0"/>
                <a:ea typeface="Calibri" pitchFamily="34" charset="-122"/>
                <a:cs typeface="Calibri" pitchFamily="34" charset="-120"/>
              </a:rPr>
              <a:t>Quantified improvement via readability score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28600"/>
            <a:ext cx="8412480" cy="594360"/>
          </a:xfrm>
          <a:prstGeom prst="rect">
            <a:avLst/>
          </a:prstGeom>
          <a:noFill/>
          <a:ln/>
        </p:spPr>
        <p:txBody>
          <a:bodyPr wrap="square" rtlCol="0" anchor="ctr"/>
          <a:lstStyle/>
          <a:p>
            <a:pPr indent="0" marL="0">
              <a:buNone/>
            </a:pPr>
            <a:r>
              <a:rPr lang="en-US" sz="2800" b="1" dirty="0">
                <a:solidFill>
                  <a:srgbClr val="0D2137"/>
                </a:solidFill>
                <a:latin typeface="Cambria" pitchFamily="34" charset="0"/>
                <a:ea typeface="Cambria" pitchFamily="34" charset="-122"/>
                <a:cs typeface="Cambria" pitchFamily="34" charset="-120"/>
              </a:rPr>
              <a:t>Societal Impact</a:t>
            </a:r>
            <a:endParaRPr lang="en-US" sz="2800" dirty="0"/>
          </a:p>
        </p:txBody>
      </p:sp>
      <p:sp>
        <p:nvSpPr>
          <p:cNvPr id="3" name="Shape 1"/>
          <p:cNvSpPr/>
          <p:nvPr/>
        </p:nvSpPr>
        <p:spPr>
          <a:xfrm>
            <a:off x="365760" y="804672"/>
            <a:ext cx="8412480" cy="36576"/>
          </a:xfrm>
          <a:prstGeom prst="rect">
            <a:avLst/>
          </a:prstGeom>
          <a:solidFill>
            <a:srgbClr val="0D7377"/>
          </a:solidFill>
          <a:ln/>
        </p:spPr>
      </p:sp>
      <p:sp>
        <p:nvSpPr>
          <p:cNvPr id="4" name="Shape 2"/>
          <p:cNvSpPr/>
          <p:nvPr/>
        </p:nvSpPr>
        <p:spPr>
          <a:xfrm>
            <a:off x="365760" y="1005840"/>
            <a:ext cx="4114800" cy="16916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5" name="Shape 3"/>
          <p:cNvSpPr/>
          <p:nvPr/>
        </p:nvSpPr>
        <p:spPr>
          <a:xfrm>
            <a:off x="365760" y="1005840"/>
            <a:ext cx="4114800" cy="347472"/>
          </a:xfrm>
          <a:prstGeom prst="rect">
            <a:avLst/>
          </a:prstGeom>
          <a:solidFill>
            <a:srgbClr val="B0363A"/>
          </a:solidFill>
          <a:ln/>
        </p:spPr>
      </p:sp>
      <p:sp>
        <p:nvSpPr>
          <p:cNvPr id="6" name="Text 4"/>
          <p:cNvSpPr/>
          <p:nvPr/>
        </p:nvSpPr>
        <p:spPr>
          <a:xfrm>
            <a:off x="502920" y="1042416"/>
            <a:ext cx="3840480" cy="2743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  Misinterpretation</a:t>
            </a:r>
            <a:endParaRPr lang="en-US" sz="1400" dirty="0"/>
          </a:p>
        </p:txBody>
      </p:sp>
      <p:sp>
        <p:nvSpPr>
          <p:cNvPr id="7" name="Text 5"/>
          <p:cNvSpPr/>
          <p:nvPr/>
        </p:nvSpPr>
        <p:spPr>
          <a:xfrm>
            <a:off x="502920" y="1463040"/>
            <a:ext cx="3840480" cy="1143000"/>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Citizens unknowingly waive rights, miss deadlines, or accept unfavourable contract clauses due to unclear language.</a:t>
            </a:r>
            <a:endParaRPr lang="en-US" sz="1150" dirty="0"/>
          </a:p>
        </p:txBody>
      </p:sp>
      <p:sp>
        <p:nvSpPr>
          <p:cNvPr id="8" name="Shape 6"/>
          <p:cNvSpPr/>
          <p:nvPr/>
        </p:nvSpPr>
        <p:spPr>
          <a:xfrm>
            <a:off x="4709160" y="1005840"/>
            <a:ext cx="4114800" cy="16916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9" name="Shape 7"/>
          <p:cNvSpPr/>
          <p:nvPr/>
        </p:nvSpPr>
        <p:spPr>
          <a:xfrm>
            <a:off x="4709160" y="1005840"/>
            <a:ext cx="4114800" cy="347472"/>
          </a:xfrm>
          <a:prstGeom prst="rect">
            <a:avLst/>
          </a:prstGeom>
          <a:solidFill>
            <a:srgbClr val="5B6AF7"/>
          </a:solidFill>
          <a:ln/>
        </p:spPr>
      </p:sp>
      <p:sp>
        <p:nvSpPr>
          <p:cNvPr id="10" name="Text 8"/>
          <p:cNvSpPr/>
          <p:nvPr/>
        </p:nvSpPr>
        <p:spPr>
          <a:xfrm>
            <a:off x="4846320" y="1042416"/>
            <a:ext cx="3840480" cy="2743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  Financial Loss</a:t>
            </a:r>
            <a:endParaRPr lang="en-US" sz="1400" dirty="0"/>
          </a:p>
        </p:txBody>
      </p:sp>
      <p:sp>
        <p:nvSpPr>
          <p:cNvPr id="11" name="Text 9"/>
          <p:cNvSpPr/>
          <p:nvPr/>
        </p:nvSpPr>
        <p:spPr>
          <a:xfrm>
            <a:off x="4846320" y="1463040"/>
            <a:ext cx="3840480" cy="1143000"/>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Lack of legal clarity leads to wrongful penalties, missed entitlements, and costly disputes that could be avoided.</a:t>
            </a:r>
            <a:endParaRPr lang="en-US" sz="1150" dirty="0"/>
          </a:p>
        </p:txBody>
      </p:sp>
      <p:sp>
        <p:nvSpPr>
          <p:cNvPr id="12" name="Shape 10"/>
          <p:cNvSpPr/>
          <p:nvPr/>
        </p:nvSpPr>
        <p:spPr>
          <a:xfrm>
            <a:off x="365760" y="2880360"/>
            <a:ext cx="4114800" cy="16916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3" name="Shape 11"/>
          <p:cNvSpPr/>
          <p:nvPr/>
        </p:nvSpPr>
        <p:spPr>
          <a:xfrm>
            <a:off x="365760" y="2880360"/>
            <a:ext cx="4114800" cy="347472"/>
          </a:xfrm>
          <a:prstGeom prst="rect">
            <a:avLst/>
          </a:prstGeom>
          <a:solidFill>
            <a:srgbClr val="0D7377"/>
          </a:solidFill>
          <a:ln/>
        </p:spPr>
      </p:sp>
      <p:sp>
        <p:nvSpPr>
          <p:cNvPr id="14" name="Text 12"/>
          <p:cNvSpPr/>
          <p:nvPr/>
        </p:nvSpPr>
        <p:spPr>
          <a:xfrm>
            <a:off x="502920" y="2916936"/>
            <a:ext cx="3840480" cy="2743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  Democratic Access</a:t>
            </a:r>
            <a:endParaRPr lang="en-US" sz="1400" dirty="0"/>
          </a:p>
        </p:txBody>
      </p:sp>
      <p:sp>
        <p:nvSpPr>
          <p:cNvPr id="15" name="Text 13"/>
          <p:cNvSpPr/>
          <p:nvPr/>
        </p:nvSpPr>
        <p:spPr>
          <a:xfrm>
            <a:off x="502920" y="3337560"/>
            <a:ext cx="3840480" cy="1143000"/>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Legal literacy is a pillar of democracy. Inaccessible documents exclude marginalised communities from civic participation.</a:t>
            </a:r>
            <a:endParaRPr lang="en-US" sz="1150" dirty="0"/>
          </a:p>
        </p:txBody>
      </p:sp>
      <p:sp>
        <p:nvSpPr>
          <p:cNvPr id="16" name="Shape 14"/>
          <p:cNvSpPr/>
          <p:nvPr/>
        </p:nvSpPr>
        <p:spPr>
          <a:xfrm>
            <a:off x="4709160" y="2880360"/>
            <a:ext cx="4114800" cy="16916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7" name="Shape 15"/>
          <p:cNvSpPr/>
          <p:nvPr/>
        </p:nvSpPr>
        <p:spPr>
          <a:xfrm>
            <a:off x="4709160" y="2880360"/>
            <a:ext cx="4114800" cy="347472"/>
          </a:xfrm>
          <a:prstGeom prst="rect">
            <a:avLst/>
          </a:prstGeom>
          <a:solidFill>
            <a:srgbClr val="E87A2A"/>
          </a:solidFill>
          <a:ln/>
        </p:spPr>
      </p:sp>
      <p:sp>
        <p:nvSpPr>
          <p:cNvPr id="18" name="Text 16"/>
          <p:cNvSpPr/>
          <p:nvPr/>
        </p:nvSpPr>
        <p:spPr>
          <a:xfrm>
            <a:off x="4846320" y="2916936"/>
            <a:ext cx="3840480" cy="2743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  Education Barrier</a:t>
            </a:r>
            <a:endParaRPr lang="en-US" sz="1400" dirty="0"/>
          </a:p>
        </p:txBody>
      </p:sp>
      <p:sp>
        <p:nvSpPr>
          <p:cNvPr id="19" name="Text 17"/>
          <p:cNvSpPr/>
          <p:nvPr/>
        </p:nvSpPr>
        <p:spPr>
          <a:xfrm>
            <a:off x="4846320" y="3337560"/>
            <a:ext cx="3840480" cy="1143000"/>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Students, small-business owners, and rural citizens are disproportionately affected by impenetrable legal text.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7377"/>
          </a:solidFill>
          <a:ln/>
        </p:spPr>
      </p:sp>
      <p:sp>
        <p:nvSpPr>
          <p:cNvPr id="3" name="Text 1"/>
          <p:cNvSpPr/>
          <p:nvPr/>
        </p:nvSpPr>
        <p:spPr>
          <a:xfrm>
            <a:off x="457200" y="228600"/>
            <a:ext cx="8229600" cy="5943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Proposed Solution</a:t>
            </a:r>
            <a:endParaRPr lang="en-US" sz="2800" dirty="0"/>
          </a:p>
        </p:txBody>
      </p:sp>
      <p:sp>
        <p:nvSpPr>
          <p:cNvPr id="4" name="Shape 2"/>
          <p:cNvSpPr/>
          <p:nvPr/>
        </p:nvSpPr>
        <p:spPr>
          <a:xfrm>
            <a:off x="457200" y="804672"/>
            <a:ext cx="8229600" cy="36576"/>
          </a:xfrm>
          <a:prstGeom prst="rect">
            <a:avLst/>
          </a:prstGeom>
          <a:solidFill>
            <a:srgbClr val="0D7377"/>
          </a:solidFill>
          <a:ln/>
        </p:spPr>
      </p:sp>
      <p:sp>
        <p:nvSpPr>
          <p:cNvPr id="5" name="Shape 3"/>
          <p:cNvSpPr/>
          <p:nvPr/>
        </p:nvSpPr>
        <p:spPr>
          <a:xfrm>
            <a:off x="457200" y="960120"/>
            <a:ext cx="8229600" cy="822960"/>
          </a:xfrm>
          <a:prstGeom prst="rect">
            <a:avLst/>
          </a:prstGeom>
          <a:solidFill>
            <a:srgbClr val="0D7377">
              <a:alpha val="25000"/>
            </a:srgbClr>
          </a:solidFill>
          <a:ln/>
        </p:spPr>
      </p:sp>
      <p:sp>
        <p:nvSpPr>
          <p:cNvPr id="6" name="Text 4"/>
          <p:cNvSpPr/>
          <p:nvPr/>
        </p:nvSpPr>
        <p:spPr>
          <a:xfrm>
            <a:off x="594360" y="1005840"/>
            <a:ext cx="7955280" cy="73152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An end-to-end NLP pipeline that ingests complex legal/government text and produces a plain-English explanation with quantified readability improvement, extracted key entities, and a structured summary.</a:t>
            </a:r>
            <a:endParaRPr lang="en-US" sz="1250" dirty="0"/>
          </a:p>
        </p:txBody>
      </p:sp>
      <p:sp>
        <p:nvSpPr>
          <p:cNvPr id="7" name="Text 5"/>
          <p:cNvSpPr/>
          <p:nvPr/>
        </p:nvSpPr>
        <p:spPr>
          <a:xfrm>
            <a:off x="548640" y="1965960"/>
            <a:ext cx="8046720" cy="502920"/>
          </a:xfrm>
          <a:prstGeom prst="rect">
            <a:avLst/>
          </a:prstGeom>
          <a:noFill/>
          <a:ln/>
        </p:spPr>
        <p:txBody>
          <a:bodyPr wrap="square"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  Automate legal text simplification using pre-trained transformer models (BART, T5)</a:t>
            </a:r>
            <a:endParaRPr lang="en-US" sz="1300" dirty="0"/>
          </a:p>
        </p:txBody>
      </p:sp>
      <p:sp>
        <p:nvSpPr>
          <p:cNvPr id="8" name="Text 6"/>
          <p:cNvSpPr/>
          <p:nvPr/>
        </p:nvSpPr>
        <p:spPr>
          <a:xfrm>
            <a:off x="548640" y="2542032"/>
            <a:ext cx="804672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Extract key parties, dates, laws, and monetary values via Named Entity Recognition</a:t>
            </a:r>
            <a:endParaRPr lang="en-US" sz="1300" dirty="0"/>
          </a:p>
        </p:txBody>
      </p:sp>
      <p:sp>
        <p:nvSpPr>
          <p:cNvPr id="9" name="Text 7"/>
          <p:cNvSpPr/>
          <p:nvPr/>
        </p:nvSpPr>
        <p:spPr>
          <a:xfrm>
            <a:off x="548640" y="3118104"/>
            <a:ext cx="804672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Quantify readability improvement using Flesch Reading Ease &amp; FK Grade Level</a:t>
            </a:r>
            <a:endParaRPr lang="en-US" sz="1300" dirty="0"/>
          </a:p>
        </p:txBody>
      </p:sp>
      <p:sp>
        <p:nvSpPr>
          <p:cNvPr id="10" name="Text 8"/>
          <p:cNvSpPr/>
          <p:nvPr/>
        </p:nvSpPr>
        <p:spPr>
          <a:xfrm>
            <a:off x="548640" y="3694176"/>
            <a:ext cx="804672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Deliver through an accessible Streamlit web interface – no legal expertise required</a:t>
            </a:r>
            <a:endParaRPr lang="en-US" sz="1300" dirty="0"/>
          </a:p>
        </p:txBody>
      </p:sp>
      <p:sp>
        <p:nvSpPr>
          <p:cNvPr id="11" name="Text 9"/>
          <p:cNvSpPr/>
          <p:nvPr/>
        </p:nvSpPr>
        <p:spPr>
          <a:xfrm>
            <a:off x="548640" y="4270248"/>
            <a:ext cx="804672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Make the system open-source and free to ensure equitable legal access for all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28600"/>
            <a:ext cx="8412480" cy="594360"/>
          </a:xfrm>
          <a:prstGeom prst="rect">
            <a:avLst/>
          </a:prstGeom>
          <a:noFill/>
          <a:ln/>
        </p:spPr>
        <p:txBody>
          <a:bodyPr wrap="square" rtlCol="0" anchor="ctr"/>
          <a:lstStyle/>
          <a:p>
            <a:pPr indent="0" marL="0">
              <a:buNone/>
            </a:pPr>
            <a:r>
              <a:rPr lang="en-US" sz="2800" b="1" dirty="0">
                <a:solidFill>
                  <a:srgbClr val="0D2137"/>
                </a:solidFill>
                <a:latin typeface="Cambria" pitchFamily="34" charset="0"/>
                <a:ea typeface="Cambria" pitchFamily="34" charset="-122"/>
                <a:cs typeface="Cambria" pitchFamily="34" charset="-120"/>
              </a:rPr>
              <a:t>NLP Techniques Used</a:t>
            </a:r>
            <a:endParaRPr lang="en-US" sz="2800" dirty="0"/>
          </a:p>
        </p:txBody>
      </p:sp>
      <p:sp>
        <p:nvSpPr>
          <p:cNvPr id="3" name="Shape 1"/>
          <p:cNvSpPr/>
          <p:nvPr/>
        </p:nvSpPr>
        <p:spPr>
          <a:xfrm>
            <a:off x="365760" y="804672"/>
            <a:ext cx="8412480" cy="36576"/>
          </a:xfrm>
          <a:prstGeom prst="rect">
            <a:avLst/>
          </a:prstGeom>
          <a:solidFill>
            <a:srgbClr val="0D7377"/>
          </a:solidFill>
          <a:ln/>
        </p:spPr>
      </p:sp>
      <p:sp>
        <p:nvSpPr>
          <p:cNvPr id="4" name="Shape 2"/>
          <p:cNvSpPr/>
          <p:nvPr/>
        </p:nvSpPr>
        <p:spPr>
          <a:xfrm>
            <a:off x="365760" y="960120"/>
            <a:ext cx="4114800" cy="17830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5" name="Shape 3"/>
          <p:cNvSpPr/>
          <p:nvPr/>
        </p:nvSpPr>
        <p:spPr>
          <a:xfrm>
            <a:off x="365760" y="960120"/>
            <a:ext cx="502920" cy="1783080"/>
          </a:xfrm>
          <a:prstGeom prst="rect">
            <a:avLst/>
          </a:prstGeom>
          <a:solidFill>
            <a:srgbClr val="0D7377"/>
          </a:solidFill>
          <a:ln/>
        </p:spPr>
      </p:sp>
      <p:sp>
        <p:nvSpPr>
          <p:cNvPr id="6" name="Text 4"/>
          <p:cNvSpPr/>
          <p:nvPr/>
        </p:nvSpPr>
        <p:spPr>
          <a:xfrm>
            <a:off x="365760" y="1033272"/>
            <a:ext cx="502920" cy="3657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7" name="Text 5"/>
          <p:cNvSpPr/>
          <p:nvPr/>
        </p:nvSpPr>
        <p:spPr>
          <a:xfrm>
            <a:off x="960120" y="1069848"/>
            <a:ext cx="3429000" cy="384048"/>
          </a:xfrm>
          <a:prstGeom prst="rect">
            <a:avLst/>
          </a:prstGeom>
          <a:noFill/>
          <a:ln/>
        </p:spPr>
        <p:txBody>
          <a:bodyPr wrap="square" rtlCol="0" anchor="ctr"/>
          <a:lstStyle/>
          <a:p>
            <a:pPr indent="0" marL="0">
              <a:buNone/>
            </a:pPr>
            <a:r>
              <a:rPr lang="en-US" sz="1350" b="1" dirty="0">
                <a:solidFill>
                  <a:srgbClr val="0D2137"/>
                </a:solidFill>
                <a:latin typeface="Cambria" pitchFamily="34" charset="0"/>
                <a:ea typeface="Cambria" pitchFamily="34" charset="-122"/>
                <a:cs typeface="Cambria" pitchFamily="34" charset="-120"/>
              </a:rPr>
              <a:t>Abstractive Summarization</a:t>
            </a:r>
            <a:endParaRPr lang="en-US" sz="1350" dirty="0"/>
          </a:p>
        </p:txBody>
      </p:sp>
      <p:sp>
        <p:nvSpPr>
          <p:cNvPr id="8" name="Text 6"/>
          <p:cNvSpPr/>
          <p:nvPr/>
        </p:nvSpPr>
        <p:spPr>
          <a:xfrm>
            <a:off x="960120" y="1435608"/>
            <a:ext cx="3429000" cy="256032"/>
          </a:xfrm>
          <a:prstGeom prst="rect">
            <a:avLst/>
          </a:prstGeom>
          <a:noFill/>
          <a:ln/>
        </p:spPr>
        <p:txBody>
          <a:bodyPr wrap="square" rtlCol="0" anchor="ctr"/>
          <a:lstStyle/>
          <a:p>
            <a:pPr indent="0" marL="0">
              <a:buNone/>
            </a:pPr>
            <a:r>
              <a:rPr lang="en-US" sz="1000" i="1" dirty="0">
                <a:solidFill>
                  <a:srgbClr val="0D7377"/>
                </a:solidFill>
                <a:latin typeface="Calibri" pitchFamily="34" charset="0"/>
                <a:ea typeface="Calibri" pitchFamily="34" charset="-122"/>
                <a:cs typeface="Calibri" pitchFamily="34" charset="-120"/>
              </a:rPr>
              <a:t>Model: BART-large-CNN</a:t>
            </a:r>
            <a:endParaRPr lang="en-US" sz="1000" dirty="0"/>
          </a:p>
        </p:txBody>
      </p:sp>
      <p:sp>
        <p:nvSpPr>
          <p:cNvPr id="9" name="Text 7"/>
          <p:cNvSpPr/>
          <p:nvPr/>
        </p:nvSpPr>
        <p:spPr>
          <a:xfrm>
            <a:off x="960120" y="1691640"/>
            <a:ext cx="3429000" cy="9601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Generates a condensed paraphrase capturing the core intent — not just extracting sentences. Handles long legal text via chunking.</a:t>
            </a:r>
            <a:endParaRPr lang="en-US" sz="1100" dirty="0"/>
          </a:p>
        </p:txBody>
      </p:sp>
      <p:sp>
        <p:nvSpPr>
          <p:cNvPr id="10" name="Shape 8"/>
          <p:cNvSpPr/>
          <p:nvPr/>
        </p:nvSpPr>
        <p:spPr>
          <a:xfrm>
            <a:off x="4709160" y="960120"/>
            <a:ext cx="4114800" cy="17830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1" name="Shape 9"/>
          <p:cNvSpPr/>
          <p:nvPr/>
        </p:nvSpPr>
        <p:spPr>
          <a:xfrm>
            <a:off x="4709160" y="960120"/>
            <a:ext cx="502920" cy="1783080"/>
          </a:xfrm>
          <a:prstGeom prst="rect">
            <a:avLst/>
          </a:prstGeom>
          <a:solidFill>
            <a:srgbClr val="5B6AF7"/>
          </a:solidFill>
          <a:ln/>
        </p:spPr>
      </p:sp>
      <p:sp>
        <p:nvSpPr>
          <p:cNvPr id="12" name="Text 10"/>
          <p:cNvSpPr/>
          <p:nvPr/>
        </p:nvSpPr>
        <p:spPr>
          <a:xfrm>
            <a:off x="4709160" y="1033272"/>
            <a:ext cx="502920" cy="3657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3" name="Text 11"/>
          <p:cNvSpPr/>
          <p:nvPr/>
        </p:nvSpPr>
        <p:spPr>
          <a:xfrm>
            <a:off x="5303520" y="1069848"/>
            <a:ext cx="3429000" cy="384048"/>
          </a:xfrm>
          <a:prstGeom prst="rect">
            <a:avLst/>
          </a:prstGeom>
          <a:noFill/>
          <a:ln/>
        </p:spPr>
        <p:txBody>
          <a:bodyPr wrap="square" rtlCol="0" anchor="ctr"/>
          <a:lstStyle/>
          <a:p>
            <a:pPr indent="0" marL="0">
              <a:buNone/>
            </a:pPr>
            <a:r>
              <a:rPr lang="en-US" sz="1350" b="1" dirty="0">
                <a:solidFill>
                  <a:srgbClr val="0D2137"/>
                </a:solidFill>
                <a:latin typeface="Cambria" pitchFamily="34" charset="0"/>
                <a:ea typeface="Cambria" pitchFamily="34" charset="-122"/>
                <a:cs typeface="Cambria" pitchFamily="34" charset="-120"/>
              </a:rPr>
              <a:t>Paraphrasing</a:t>
            </a:r>
            <a:endParaRPr lang="en-US" sz="1350" dirty="0"/>
          </a:p>
        </p:txBody>
      </p:sp>
      <p:sp>
        <p:nvSpPr>
          <p:cNvPr id="14" name="Text 12"/>
          <p:cNvSpPr/>
          <p:nvPr/>
        </p:nvSpPr>
        <p:spPr>
          <a:xfrm>
            <a:off x="5303520" y="1435608"/>
            <a:ext cx="3429000" cy="256032"/>
          </a:xfrm>
          <a:prstGeom prst="rect">
            <a:avLst/>
          </a:prstGeom>
          <a:noFill/>
          <a:ln/>
        </p:spPr>
        <p:txBody>
          <a:bodyPr wrap="square" rtlCol="0" anchor="ctr"/>
          <a:lstStyle/>
          <a:p>
            <a:pPr indent="0" marL="0">
              <a:buNone/>
            </a:pPr>
            <a:r>
              <a:rPr lang="en-US" sz="1000" i="1" dirty="0">
                <a:solidFill>
                  <a:srgbClr val="5B6AF7"/>
                </a:solidFill>
                <a:latin typeface="Calibri" pitchFamily="34" charset="0"/>
                <a:ea typeface="Calibri" pitchFamily="34" charset="-122"/>
                <a:cs typeface="Calibri" pitchFamily="34" charset="-120"/>
              </a:rPr>
              <a:t>Model: T5-Paraphrase</a:t>
            </a:r>
            <a:endParaRPr lang="en-US" sz="1000" dirty="0"/>
          </a:p>
        </p:txBody>
      </p:sp>
      <p:sp>
        <p:nvSpPr>
          <p:cNvPr id="15" name="Text 13"/>
          <p:cNvSpPr/>
          <p:nvPr/>
        </p:nvSpPr>
        <p:spPr>
          <a:xfrm>
            <a:off x="5303520" y="1691640"/>
            <a:ext cx="3429000" cy="9601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Re-expresses the BART summary in simpler vocabulary and shorter sentences, reducing cognitive load for non-expert readers.</a:t>
            </a:r>
            <a:endParaRPr lang="en-US" sz="1100" dirty="0"/>
          </a:p>
        </p:txBody>
      </p:sp>
      <p:sp>
        <p:nvSpPr>
          <p:cNvPr id="16" name="Shape 14"/>
          <p:cNvSpPr/>
          <p:nvPr/>
        </p:nvSpPr>
        <p:spPr>
          <a:xfrm>
            <a:off x="365760" y="2926080"/>
            <a:ext cx="4114800" cy="17830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7" name="Shape 15"/>
          <p:cNvSpPr/>
          <p:nvPr/>
        </p:nvSpPr>
        <p:spPr>
          <a:xfrm>
            <a:off x="365760" y="2926080"/>
            <a:ext cx="502920" cy="1783080"/>
          </a:xfrm>
          <a:prstGeom prst="rect">
            <a:avLst/>
          </a:prstGeom>
          <a:solidFill>
            <a:srgbClr val="E87A2A"/>
          </a:solidFill>
          <a:ln/>
        </p:spPr>
      </p:sp>
      <p:sp>
        <p:nvSpPr>
          <p:cNvPr id="18" name="Text 16"/>
          <p:cNvSpPr/>
          <p:nvPr/>
        </p:nvSpPr>
        <p:spPr>
          <a:xfrm>
            <a:off x="365760" y="2999232"/>
            <a:ext cx="502920" cy="3657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19" name="Text 17"/>
          <p:cNvSpPr/>
          <p:nvPr/>
        </p:nvSpPr>
        <p:spPr>
          <a:xfrm>
            <a:off x="960120" y="3035808"/>
            <a:ext cx="3429000" cy="384048"/>
          </a:xfrm>
          <a:prstGeom prst="rect">
            <a:avLst/>
          </a:prstGeom>
          <a:noFill/>
          <a:ln/>
        </p:spPr>
        <p:txBody>
          <a:bodyPr wrap="square" rtlCol="0" anchor="ctr"/>
          <a:lstStyle/>
          <a:p>
            <a:pPr indent="0" marL="0">
              <a:buNone/>
            </a:pPr>
            <a:r>
              <a:rPr lang="en-US" sz="1350" b="1" dirty="0">
                <a:solidFill>
                  <a:srgbClr val="0D2137"/>
                </a:solidFill>
                <a:latin typeface="Cambria" pitchFamily="34" charset="0"/>
                <a:ea typeface="Cambria" pitchFamily="34" charset="-122"/>
                <a:cs typeface="Cambria" pitchFamily="34" charset="-120"/>
              </a:rPr>
              <a:t>Named Entity Recognition</a:t>
            </a:r>
            <a:endParaRPr lang="en-US" sz="1350" dirty="0"/>
          </a:p>
        </p:txBody>
      </p:sp>
      <p:sp>
        <p:nvSpPr>
          <p:cNvPr id="20" name="Text 18"/>
          <p:cNvSpPr/>
          <p:nvPr/>
        </p:nvSpPr>
        <p:spPr>
          <a:xfrm>
            <a:off x="960120" y="3401568"/>
            <a:ext cx="3429000" cy="256032"/>
          </a:xfrm>
          <a:prstGeom prst="rect">
            <a:avLst/>
          </a:prstGeom>
          <a:noFill/>
          <a:ln/>
        </p:spPr>
        <p:txBody>
          <a:bodyPr wrap="square" rtlCol="0" anchor="ctr"/>
          <a:lstStyle/>
          <a:p>
            <a:pPr indent="0" marL="0">
              <a:buNone/>
            </a:pPr>
            <a:r>
              <a:rPr lang="en-US" sz="1000" i="1" dirty="0">
                <a:solidFill>
                  <a:srgbClr val="E87A2A"/>
                </a:solidFill>
                <a:latin typeface="Calibri" pitchFamily="34" charset="0"/>
                <a:ea typeface="Calibri" pitchFamily="34" charset="-122"/>
                <a:cs typeface="Calibri" pitchFamily="34" charset="-120"/>
              </a:rPr>
              <a:t>Model: spaCy en_core_web_sm</a:t>
            </a:r>
            <a:endParaRPr lang="en-US" sz="1000" dirty="0"/>
          </a:p>
        </p:txBody>
      </p:sp>
      <p:sp>
        <p:nvSpPr>
          <p:cNvPr id="21" name="Text 19"/>
          <p:cNvSpPr/>
          <p:nvPr/>
        </p:nvSpPr>
        <p:spPr>
          <a:xfrm>
            <a:off x="960120" y="3657600"/>
            <a:ext cx="3429000" cy="9601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Identifies PERSON, ORG, LAW, DATE, MONEY, and GPE labels — giving readers an instant glossary of who/what/when.</a:t>
            </a:r>
            <a:endParaRPr lang="en-US" sz="1100" dirty="0"/>
          </a:p>
        </p:txBody>
      </p:sp>
      <p:sp>
        <p:nvSpPr>
          <p:cNvPr id="22" name="Shape 20"/>
          <p:cNvSpPr/>
          <p:nvPr/>
        </p:nvSpPr>
        <p:spPr>
          <a:xfrm>
            <a:off x="4709160" y="2926080"/>
            <a:ext cx="4114800" cy="17830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3" name="Shape 21"/>
          <p:cNvSpPr/>
          <p:nvPr/>
        </p:nvSpPr>
        <p:spPr>
          <a:xfrm>
            <a:off x="4709160" y="2926080"/>
            <a:ext cx="502920" cy="1783080"/>
          </a:xfrm>
          <a:prstGeom prst="rect">
            <a:avLst/>
          </a:prstGeom>
          <a:solidFill>
            <a:srgbClr val="B0363A"/>
          </a:solidFill>
          <a:ln/>
        </p:spPr>
      </p:sp>
      <p:sp>
        <p:nvSpPr>
          <p:cNvPr id="24" name="Text 22"/>
          <p:cNvSpPr/>
          <p:nvPr/>
        </p:nvSpPr>
        <p:spPr>
          <a:xfrm>
            <a:off x="4709160" y="2999232"/>
            <a:ext cx="502920" cy="3657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04</a:t>
            </a:r>
            <a:endParaRPr lang="en-US" sz="1600" dirty="0"/>
          </a:p>
        </p:txBody>
      </p:sp>
      <p:sp>
        <p:nvSpPr>
          <p:cNvPr id="25" name="Text 23"/>
          <p:cNvSpPr/>
          <p:nvPr/>
        </p:nvSpPr>
        <p:spPr>
          <a:xfrm>
            <a:off x="5303520" y="3035808"/>
            <a:ext cx="3429000" cy="384048"/>
          </a:xfrm>
          <a:prstGeom prst="rect">
            <a:avLst/>
          </a:prstGeom>
          <a:noFill/>
          <a:ln/>
        </p:spPr>
        <p:txBody>
          <a:bodyPr wrap="square" rtlCol="0" anchor="ctr"/>
          <a:lstStyle/>
          <a:p>
            <a:pPr indent="0" marL="0">
              <a:buNone/>
            </a:pPr>
            <a:r>
              <a:rPr lang="en-US" sz="1350" b="1" dirty="0">
                <a:solidFill>
                  <a:srgbClr val="0D2137"/>
                </a:solidFill>
                <a:latin typeface="Cambria" pitchFamily="34" charset="0"/>
                <a:ea typeface="Cambria" pitchFamily="34" charset="-122"/>
                <a:cs typeface="Cambria" pitchFamily="34" charset="-120"/>
              </a:rPr>
              <a:t>Readability Scoring</a:t>
            </a:r>
            <a:endParaRPr lang="en-US" sz="1350" dirty="0"/>
          </a:p>
        </p:txBody>
      </p:sp>
      <p:sp>
        <p:nvSpPr>
          <p:cNvPr id="26" name="Text 24"/>
          <p:cNvSpPr/>
          <p:nvPr/>
        </p:nvSpPr>
        <p:spPr>
          <a:xfrm>
            <a:off x="5303520" y="3401568"/>
            <a:ext cx="3429000" cy="256032"/>
          </a:xfrm>
          <a:prstGeom prst="rect">
            <a:avLst/>
          </a:prstGeom>
          <a:noFill/>
          <a:ln/>
        </p:spPr>
        <p:txBody>
          <a:bodyPr wrap="square" rtlCol="0" anchor="ctr"/>
          <a:lstStyle/>
          <a:p>
            <a:pPr indent="0" marL="0">
              <a:buNone/>
            </a:pPr>
            <a:r>
              <a:rPr lang="en-US" sz="1000" i="1" dirty="0">
                <a:solidFill>
                  <a:srgbClr val="B0363A"/>
                </a:solidFill>
                <a:latin typeface="Calibri" pitchFamily="34" charset="0"/>
                <a:ea typeface="Calibri" pitchFamily="34" charset="-122"/>
                <a:cs typeface="Calibri" pitchFamily="34" charset="-120"/>
              </a:rPr>
              <a:t>Model: textstat library</a:t>
            </a:r>
            <a:endParaRPr lang="en-US" sz="1000" dirty="0"/>
          </a:p>
        </p:txBody>
      </p:sp>
      <p:sp>
        <p:nvSpPr>
          <p:cNvPr id="27" name="Text 25"/>
          <p:cNvSpPr/>
          <p:nvPr/>
        </p:nvSpPr>
        <p:spPr>
          <a:xfrm>
            <a:off x="5303520" y="3657600"/>
            <a:ext cx="3429000" cy="9601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Flesch Reading Ease (0–100, higher=easier) and FK Grade Level measure improvement objectively. Average legal text scores ~20–30.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28600"/>
            <a:ext cx="8412480" cy="594360"/>
          </a:xfrm>
          <a:prstGeom prst="rect">
            <a:avLst/>
          </a:prstGeom>
          <a:noFill/>
          <a:ln/>
        </p:spPr>
        <p:txBody>
          <a:bodyPr wrap="square" rtlCol="0" anchor="ctr"/>
          <a:lstStyle/>
          <a:p>
            <a:pPr indent="0" marL="0">
              <a:buNone/>
            </a:pPr>
            <a:r>
              <a:rPr lang="en-US" sz="2800" b="1" dirty="0">
                <a:solidFill>
                  <a:srgbClr val="0D2137"/>
                </a:solidFill>
                <a:latin typeface="Cambria" pitchFamily="34" charset="0"/>
                <a:ea typeface="Cambria" pitchFamily="34" charset="-122"/>
                <a:cs typeface="Cambria" pitchFamily="34" charset="-120"/>
              </a:rPr>
              <a:t>System Architecture &amp; Pipeline</a:t>
            </a:r>
            <a:endParaRPr lang="en-US" sz="2800" dirty="0"/>
          </a:p>
        </p:txBody>
      </p:sp>
      <p:sp>
        <p:nvSpPr>
          <p:cNvPr id="3" name="Shape 1"/>
          <p:cNvSpPr/>
          <p:nvPr/>
        </p:nvSpPr>
        <p:spPr>
          <a:xfrm>
            <a:off x="365760" y="804672"/>
            <a:ext cx="8412480" cy="36576"/>
          </a:xfrm>
          <a:prstGeom prst="rect">
            <a:avLst/>
          </a:prstGeom>
          <a:solidFill>
            <a:srgbClr val="0D7377"/>
          </a:solidFill>
          <a:ln/>
        </p:spPr>
      </p:sp>
      <p:sp>
        <p:nvSpPr>
          <p:cNvPr id="4" name="Shape 2"/>
          <p:cNvSpPr/>
          <p:nvPr/>
        </p:nvSpPr>
        <p:spPr>
          <a:xfrm>
            <a:off x="320040" y="1051560"/>
            <a:ext cx="1078992" cy="1051560"/>
          </a:xfrm>
          <a:prstGeom prst="roundRect">
            <a:avLst>
              <a:gd name="adj" fmla="val 8696"/>
            </a:avLst>
          </a:prstGeom>
          <a:solidFill>
            <a:srgbClr val="0D2137"/>
          </a:solidFill>
          <a:ln/>
          <a:effectLst>
            <a:outerShdw sx="100000" sy="100000" kx="0" ky="0" algn="bl" rotWithShape="0" blurRad="101600" dist="38100" dir="8100000">
              <a:srgbClr val="000000">
                <a:alpha val="13000"/>
              </a:srgbClr>
            </a:outerShdw>
          </a:effectLst>
        </p:spPr>
      </p:sp>
      <p:sp>
        <p:nvSpPr>
          <p:cNvPr id="5" name="Text 3"/>
          <p:cNvSpPr/>
          <p:nvPr/>
        </p:nvSpPr>
        <p:spPr>
          <a:xfrm>
            <a:off x="320040" y="1188720"/>
            <a:ext cx="1078992" cy="4114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Input</a:t>
            </a:r>
            <a:endParaRPr lang="en-US" sz="1300" dirty="0"/>
          </a:p>
        </p:txBody>
      </p:sp>
      <p:sp>
        <p:nvSpPr>
          <p:cNvPr id="6" name="Text 4"/>
          <p:cNvSpPr/>
          <p:nvPr/>
        </p:nvSpPr>
        <p:spPr>
          <a:xfrm>
            <a:off x="320040" y="1600200"/>
            <a:ext cx="1078992" cy="384048"/>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Raw Legal Text</a:t>
            </a:r>
            <a:endParaRPr lang="en-US" sz="950" dirty="0"/>
          </a:p>
        </p:txBody>
      </p:sp>
      <p:sp>
        <p:nvSpPr>
          <p:cNvPr id="7" name="Shape 5"/>
          <p:cNvSpPr/>
          <p:nvPr/>
        </p:nvSpPr>
        <p:spPr>
          <a:xfrm>
            <a:off x="1426464" y="1577340"/>
            <a:ext cx="347472" cy="0"/>
          </a:xfrm>
          <a:prstGeom prst="line">
            <a:avLst/>
          </a:prstGeom>
          <a:noFill/>
          <a:ln w="25400">
            <a:solidFill>
              <a:srgbClr val="0D7377"/>
            </a:solidFill>
            <a:prstDash val="solid"/>
          </a:ln>
        </p:spPr>
      </p:sp>
      <p:sp>
        <p:nvSpPr>
          <p:cNvPr id="8" name="Shape 6"/>
          <p:cNvSpPr/>
          <p:nvPr/>
        </p:nvSpPr>
        <p:spPr>
          <a:xfrm>
            <a:off x="1600200" y="1051560"/>
            <a:ext cx="1078992" cy="1051560"/>
          </a:xfrm>
          <a:prstGeom prst="roundRect">
            <a:avLst>
              <a:gd name="adj" fmla="val 8696"/>
            </a:avLst>
          </a:prstGeom>
          <a:solidFill>
            <a:srgbClr val="0D7377"/>
          </a:solidFill>
          <a:ln/>
          <a:effectLst>
            <a:outerShdw sx="100000" sy="100000" kx="0" ky="0" algn="bl" rotWithShape="0" blurRad="101600" dist="38100" dir="8100000">
              <a:srgbClr val="000000">
                <a:alpha val="13000"/>
              </a:srgbClr>
            </a:outerShdw>
          </a:effectLst>
        </p:spPr>
      </p:sp>
      <p:sp>
        <p:nvSpPr>
          <p:cNvPr id="9" name="Text 7"/>
          <p:cNvSpPr/>
          <p:nvPr/>
        </p:nvSpPr>
        <p:spPr>
          <a:xfrm>
            <a:off x="1600200" y="1188720"/>
            <a:ext cx="1078992" cy="4114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Preprocess</a:t>
            </a:r>
            <a:endParaRPr lang="en-US" sz="1300" dirty="0"/>
          </a:p>
        </p:txBody>
      </p:sp>
      <p:sp>
        <p:nvSpPr>
          <p:cNvPr id="10" name="Text 8"/>
          <p:cNvSpPr/>
          <p:nvPr/>
        </p:nvSpPr>
        <p:spPr>
          <a:xfrm>
            <a:off x="1600200" y="1600200"/>
            <a:ext cx="1078992" cy="384048"/>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Clean &amp; Chunk</a:t>
            </a:r>
            <a:endParaRPr lang="en-US" sz="950" dirty="0"/>
          </a:p>
        </p:txBody>
      </p:sp>
      <p:sp>
        <p:nvSpPr>
          <p:cNvPr id="11" name="Shape 9"/>
          <p:cNvSpPr/>
          <p:nvPr/>
        </p:nvSpPr>
        <p:spPr>
          <a:xfrm>
            <a:off x="2706624" y="1577340"/>
            <a:ext cx="347472" cy="0"/>
          </a:xfrm>
          <a:prstGeom prst="line">
            <a:avLst/>
          </a:prstGeom>
          <a:noFill/>
          <a:ln w="25400">
            <a:solidFill>
              <a:srgbClr val="0D7377"/>
            </a:solidFill>
            <a:prstDash val="solid"/>
          </a:ln>
        </p:spPr>
      </p:sp>
      <p:sp>
        <p:nvSpPr>
          <p:cNvPr id="12" name="Shape 10"/>
          <p:cNvSpPr/>
          <p:nvPr/>
        </p:nvSpPr>
        <p:spPr>
          <a:xfrm>
            <a:off x="2880360" y="1051560"/>
            <a:ext cx="1078992" cy="1051560"/>
          </a:xfrm>
          <a:prstGeom prst="roundRect">
            <a:avLst>
              <a:gd name="adj" fmla="val 8696"/>
            </a:avLst>
          </a:prstGeom>
          <a:solidFill>
            <a:srgbClr val="5B6AF7"/>
          </a:solidFill>
          <a:ln/>
          <a:effectLst>
            <a:outerShdw sx="100000" sy="100000" kx="0" ky="0" algn="bl" rotWithShape="0" blurRad="101600" dist="38100" dir="8100000">
              <a:srgbClr val="000000">
                <a:alpha val="13000"/>
              </a:srgbClr>
            </a:outerShdw>
          </a:effectLst>
        </p:spPr>
      </p:sp>
      <p:sp>
        <p:nvSpPr>
          <p:cNvPr id="13" name="Text 11"/>
          <p:cNvSpPr/>
          <p:nvPr/>
        </p:nvSpPr>
        <p:spPr>
          <a:xfrm>
            <a:off x="2880360" y="1188720"/>
            <a:ext cx="1078992" cy="4114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NER</a:t>
            </a:r>
            <a:endParaRPr lang="en-US" sz="1300" dirty="0"/>
          </a:p>
        </p:txBody>
      </p:sp>
      <p:sp>
        <p:nvSpPr>
          <p:cNvPr id="14" name="Text 12"/>
          <p:cNvSpPr/>
          <p:nvPr/>
        </p:nvSpPr>
        <p:spPr>
          <a:xfrm>
            <a:off x="2880360" y="1600200"/>
            <a:ext cx="1078992" cy="384048"/>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spaCy Entities</a:t>
            </a:r>
            <a:endParaRPr lang="en-US" sz="950" dirty="0"/>
          </a:p>
        </p:txBody>
      </p:sp>
      <p:sp>
        <p:nvSpPr>
          <p:cNvPr id="15" name="Shape 13"/>
          <p:cNvSpPr/>
          <p:nvPr/>
        </p:nvSpPr>
        <p:spPr>
          <a:xfrm>
            <a:off x="3986784" y="1577340"/>
            <a:ext cx="347472" cy="0"/>
          </a:xfrm>
          <a:prstGeom prst="line">
            <a:avLst/>
          </a:prstGeom>
          <a:noFill/>
          <a:ln w="25400">
            <a:solidFill>
              <a:srgbClr val="0D7377"/>
            </a:solidFill>
            <a:prstDash val="solid"/>
          </a:ln>
        </p:spPr>
      </p:sp>
      <p:sp>
        <p:nvSpPr>
          <p:cNvPr id="16" name="Shape 14"/>
          <p:cNvSpPr/>
          <p:nvPr/>
        </p:nvSpPr>
        <p:spPr>
          <a:xfrm>
            <a:off x="4160520" y="1051560"/>
            <a:ext cx="1078992" cy="1051560"/>
          </a:xfrm>
          <a:prstGeom prst="roundRect">
            <a:avLst>
              <a:gd name="adj" fmla="val 8696"/>
            </a:avLst>
          </a:prstGeom>
          <a:solidFill>
            <a:srgbClr val="E87A2A"/>
          </a:solidFill>
          <a:ln/>
          <a:effectLst>
            <a:outerShdw sx="100000" sy="100000" kx="0" ky="0" algn="bl" rotWithShape="0" blurRad="101600" dist="38100" dir="8100000">
              <a:srgbClr val="000000">
                <a:alpha val="13000"/>
              </a:srgbClr>
            </a:outerShdw>
          </a:effectLst>
        </p:spPr>
      </p:sp>
      <p:sp>
        <p:nvSpPr>
          <p:cNvPr id="17" name="Text 15"/>
          <p:cNvSpPr/>
          <p:nvPr/>
        </p:nvSpPr>
        <p:spPr>
          <a:xfrm>
            <a:off x="4160520" y="1188720"/>
            <a:ext cx="1078992" cy="4114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Summarize</a:t>
            </a:r>
            <a:endParaRPr lang="en-US" sz="1300" dirty="0"/>
          </a:p>
        </p:txBody>
      </p:sp>
      <p:sp>
        <p:nvSpPr>
          <p:cNvPr id="18" name="Text 16"/>
          <p:cNvSpPr/>
          <p:nvPr/>
        </p:nvSpPr>
        <p:spPr>
          <a:xfrm>
            <a:off x="4160520" y="1600200"/>
            <a:ext cx="1078992" cy="384048"/>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BART Abstractive</a:t>
            </a:r>
            <a:endParaRPr lang="en-US" sz="950" dirty="0"/>
          </a:p>
        </p:txBody>
      </p:sp>
      <p:sp>
        <p:nvSpPr>
          <p:cNvPr id="19" name="Shape 17"/>
          <p:cNvSpPr/>
          <p:nvPr/>
        </p:nvSpPr>
        <p:spPr>
          <a:xfrm>
            <a:off x="5266944" y="1577340"/>
            <a:ext cx="347472" cy="0"/>
          </a:xfrm>
          <a:prstGeom prst="line">
            <a:avLst/>
          </a:prstGeom>
          <a:noFill/>
          <a:ln w="25400">
            <a:solidFill>
              <a:srgbClr val="0D7377"/>
            </a:solidFill>
            <a:prstDash val="solid"/>
          </a:ln>
        </p:spPr>
      </p:sp>
      <p:sp>
        <p:nvSpPr>
          <p:cNvPr id="20" name="Shape 18"/>
          <p:cNvSpPr/>
          <p:nvPr/>
        </p:nvSpPr>
        <p:spPr>
          <a:xfrm>
            <a:off x="5440680" y="1051560"/>
            <a:ext cx="1078992" cy="1051560"/>
          </a:xfrm>
          <a:prstGeom prst="roundRect">
            <a:avLst>
              <a:gd name="adj" fmla="val 8696"/>
            </a:avLst>
          </a:prstGeom>
          <a:solidFill>
            <a:srgbClr val="0D7377"/>
          </a:solidFill>
          <a:ln/>
          <a:effectLst>
            <a:outerShdw sx="100000" sy="100000" kx="0" ky="0" algn="bl" rotWithShape="0" blurRad="101600" dist="38100" dir="8100000">
              <a:srgbClr val="000000">
                <a:alpha val="13000"/>
              </a:srgbClr>
            </a:outerShdw>
          </a:effectLst>
        </p:spPr>
      </p:sp>
      <p:sp>
        <p:nvSpPr>
          <p:cNvPr id="21" name="Text 19"/>
          <p:cNvSpPr/>
          <p:nvPr/>
        </p:nvSpPr>
        <p:spPr>
          <a:xfrm>
            <a:off x="5440680" y="1188720"/>
            <a:ext cx="1078992" cy="4114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Paraphrase</a:t>
            </a:r>
            <a:endParaRPr lang="en-US" sz="1300" dirty="0"/>
          </a:p>
        </p:txBody>
      </p:sp>
      <p:sp>
        <p:nvSpPr>
          <p:cNvPr id="22" name="Text 20"/>
          <p:cNvSpPr/>
          <p:nvPr/>
        </p:nvSpPr>
        <p:spPr>
          <a:xfrm>
            <a:off x="5440680" y="1600200"/>
            <a:ext cx="1078992" cy="384048"/>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T5 Simplify</a:t>
            </a:r>
            <a:endParaRPr lang="en-US" sz="950" dirty="0"/>
          </a:p>
        </p:txBody>
      </p:sp>
      <p:sp>
        <p:nvSpPr>
          <p:cNvPr id="23" name="Shape 21"/>
          <p:cNvSpPr/>
          <p:nvPr/>
        </p:nvSpPr>
        <p:spPr>
          <a:xfrm>
            <a:off x="6547104" y="1577340"/>
            <a:ext cx="347472" cy="0"/>
          </a:xfrm>
          <a:prstGeom prst="line">
            <a:avLst/>
          </a:prstGeom>
          <a:noFill/>
          <a:ln w="25400">
            <a:solidFill>
              <a:srgbClr val="0D7377"/>
            </a:solidFill>
            <a:prstDash val="solid"/>
          </a:ln>
        </p:spPr>
      </p:sp>
      <p:sp>
        <p:nvSpPr>
          <p:cNvPr id="24" name="Shape 22"/>
          <p:cNvSpPr/>
          <p:nvPr/>
        </p:nvSpPr>
        <p:spPr>
          <a:xfrm>
            <a:off x="6720840" y="1051560"/>
            <a:ext cx="1078992" cy="1051560"/>
          </a:xfrm>
          <a:prstGeom prst="roundRect">
            <a:avLst>
              <a:gd name="adj" fmla="val 8696"/>
            </a:avLst>
          </a:prstGeom>
          <a:solidFill>
            <a:srgbClr val="B0363A"/>
          </a:solidFill>
          <a:ln/>
          <a:effectLst>
            <a:outerShdw sx="100000" sy="100000" kx="0" ky="0" algn="bl" rotWithShape="0" blurRad="101600" dist="38100" dir="8100000">
              <a:srgbClr val="000000">
                <a:alpha val="13000"/>
              </a:srgbClr>
            </a:outerShdw>
          </a:effectLst>
        </p:spPr>
      </p:sp>
      <p:sp>
        <p:nvSpPr>
          <p:cNvPr id="25" name="Text 23"/>
          <p:cNvSpPr/>
          <p:nvPr/>
        </p:nvSpPr>
        <p:spPr>
          <a:xfrm>
            <a:off x="6720840" y="1188720"/>
            <a:ext cx="1078992" cy="4114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Score</a:t>
            </a:r>
            <a:endParaRPr lang="en-US" sz="1300" dirty="0"/>
          </a:p>
        </p:txBody>
      </p:sp>
      <p:sp>
        <p:nvSpPr>
          <p:cNvPr id="26" name="Text 24"/>
          <p:cNvSpPr/>
          <p:nvPr/>
        </p:nvSpPr>
        <p:spPr>
          <a:xfrm>
            <a:off x="6720840" y="1600200"/>
            <a:ext cx="1078992" cy="384048"/>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Flesch Reading Ease</a:t>
            </a:r>
            <a:endParaRPr lang="en-US" sz="950" dirty="0"/>
          </a:p>
        </p:txBody>
      </p:sp>
      <p:sp>
        <p:nvSpPr>
          <p:cNvPr id="27" name="Shape 25"/>
          <p:cNvSpPr/>
          <p:nvPr/>
        </p:nvSpPr>
        <p:spPr>
          <a:xfrm>
            <a:off x="7827264" y="1577340"/>
            <a:ext cx="347472" cy="0"/>
          </a:xfrm>
          <a:prstGeom prst="line">
            <a:avLst/>
          </a:prstGeom>
          <a:noFill/>
          <a:ln w="25400">
            <a:solidFill>
              <a:srgbClr val="0D7377"/>
            </a:solidFill>
            <a:prstDash val="solid"/>
          </a:ln>
        </p:spPr>
      </p:sp>
      <p:sp>
        <p:nvSpPr>
          <p:cNvPr id="28" name="Shape 26"/>
          <p:cNvSpPr/>
          <p:nvPr/>
        </p:nvSpPr>
        <p:spPr>
          <a:xfrm>
            <a:off x="8001000" y="1051560"/>
            <a:ext cx="1078992" cy="1051560"/>
          </a:xfrm>
          <a:prstGeom prst="roundRect">
            <a:avLst>
              <a:gd name="adj" fmla="val 8696"/>
            </a:avLst>
          </a:prstGeom>
          <a:solidFill>
            <a:srgbClr val="0D2137"/>
          </a:solidFill>
          <a:ln/>
          <a:effectLst>
            <a:outerShdw sx="100000" sy="100000" kx="0" ky="0" algn="bl" rotWithShape="0" blurRad="101600" dist="38100" dir="8100000">
              <a:srgbClr val="000000">
                <a:alpha val="13000"/>
              </a:srgbClr>
            </a:outerShdw>
          </a:effectLst>
        </p:spPr>
      </p:sp>
      <p:sp>
        <p:nvSpPr>
          <p:cNvPr id="29" name="Text 27"/>
          <p:cNvSpPr/>
          <p:nvPr/>
        </p:nvSpPr>
        <p:spPr>
          <a:xfrm>
            <a:off x="8001000" y="1188720"/>
            <a:ext cx="1078992" cy="4114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Output</a:t>
            </a:r>
            <a:endParaRPr lang="en-US" sz="1300" dirty="0"/>
          </a:p>
        </p:txBody>
      </p:sp>
      <p:sp>
        <p:nvSpPr>
          <p:cNvPr id="30" name="Text 28"/>
          <p:cNvSpPr/>
          <p:nvPr/>
        </p:nvSpPr>
        <p:spPr>
          <a:xfrm>
            <a:off x="8001000" y="1600200"/>
            <a:ext cx="1078992" cy="384048"/>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Plain English + Report</a:t>
            </a:r>
            <a:endParaRPr lang="en-US" sz="950" dirty="0"/>
          </a:p>
        </p:txBody>
      </p:sp>
      <p:sp>
        <p:nvSpPr>
          <p:cNvPr id="31" name="Text 29"/>
          <p:cNvSpPr/>
          <p:nvPr/>
        </p:nvSpPr>
        <p:spPr>
          <a:xfrm>
            <a:off x="365760" y="2331720"/>
            <a:ext cx="1325880" cy="320040"/>
          </a:xfrm>
          <a:prstGeom prst="rect">
            <a:avLst/>
          </a:prstGeom>
          <a:noFill/>
          <a:ln/>
        </p:spPr>
        <p:txBody>
          <a:bodyPr wrap="square" rtlCol="0" anchor="ctr"/>
          <a:lstStyle/>
          <a:p>
            <a:pPr indent="0" marL="0">
              <a:buNone/>
            </a:pPr>
            <a:r>
              <a:rPr lang="en-US" sz="1100" b="1" dirty="0">
                <a:solidFill>
                  <a:srgbClr val="0D7377"/>
                </a:solidFill>
                <a:latin typeface="Calibri" pitchFamily="34" charset="0"/>
                <a:ea typeface="Calibri" pitchFamily="34" charset="-122"/>
                <a:cs typeface="Calibri" pitchFamily="34" charset="-120"/>
              </a:rPr>
              <a:t>① Input</a:t>
            </a:r>
            <a:endParaRPr lang="en-US" sz="1100" dirty="0"/>
          </a:p>
        </p:txBody>
      </p:sp>
      <p:sp>
        <p:nvSpPr>
          <p:cNvPr id="32" name="Text 30"/>
          <p:cNvSpPr/>
          <p:nvPr/>
        </p:nvSpPr>
        <p:spPr>
          <a:xfrm>
            <a:off x="1737360" y="2331720"/>
            <a:ext cx="6949440" cy="3200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User pastes government circular, legal notice, contract, or act.</a:t>
            </a:r>
            <a:endParaRPr lang="en-US" sz="1100" dirty="0"/>
          </a:p>
        </p:txBody>
      </p:sp>
      <p:sp>
        <p:nvSpPr>
          <p:cNvPr id="33" name="Text 31"/>
          <p:cNvSpPr/>
          <p:nvPr/>
        </p:nvSpPr>
        <p:spPr>
          <a:xfrm>
            <a:off x="365760" y="2715768"/>
            <a:ext cx="1325880" cy="320040"/>
          </a:xfrm>
          <a:prstGeom prst="rect">
            <a:avLst/>
          </a:prstGeom>
          <a:noFill/>
          <a:ln/>
        </p:spPr>
        <p:txBody>
          <a:bodyPr wrap="square" rtlCol="0" anchor="ctr"/>
          <a:lstStyle/>
          <a:p>
            <a:pPr indent="0" marL="0">
              <a:buNone/>
            </a:pPr>
            <a:r>
              <a:rPr lang="en-US" sz="1100" b="1" dirty="0">
                <a:solidFill>
                  <a:srgbClr val="0D7377"/>
                </a:solidFill>
                <a:latin typeface="Calibri" pitchFamily="34" charset="0"/>
                <a:ea typeface="Calibri" pitchFamily="34" charset="-122"/>
                <a:cs typeface="Calibri" pitchFamily="34" charset="-120"/>
              </a:rPr>
              <a:t>② Preprocess</a:t>
            </a:r>
            <a:endParaRPr lang="en-US" sz="1100" dirty="0"/>
          </a:p>
        </p:txBody>
      </p:sp>
      <p:sp>
        <p:nvSpPr>
          <p:cNvPr id="34" name="Text 32"/>
          <p:cNvSpPr/>
          <p:nvPr/>
        </p:nvSpPr>
        <p:spPr>
          <a:xfrm>
            <a:off x="1737360" y="2715768"/>
            <a:ext cx="6949440" cy="3200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Strip artefacts, normalise punctuation, split into ≤400-word chunks.</a:t>
            </a:r>
            <a:endParaRPr lang="en-US" sz="1100" dirty="0"/>
          </a:p>
        </p:txBody>
      </p:sp>
      <p:sp>
        <p:nvSpPr>
          <p:cNvPr id="35" name="Text 33"/>
          <p:cNvSpPr/>
          <p:nvPr/>
        </p:nvSpPr>
        <p:spPr>
          <a:xfrm>
            <a:off x="365760" y="3099816"/>
            <a:ext cx="1325880" cy="320040"/>
          </a:xfrm>
          <a:prstGeom prst="rect">
            <a:avLst/>
          </a:prstGeom>
          <a:noFill/>
          <a:ln/>
        </p:spPr>
        <p:txBody>
          <a:bodyPr wrap="square" rtlCol="0" anchor="ctr"/>
          <a:lstStyle/>
          <a:p>
            <a:pPr indent="0" marL="0">
              <a:buNone/>
            </a:pPr>
            <a:r>
              <a:rPr lang="en-US" sz="1100" b="1" dirty="0">
                <a:solidFill>
                  <a:srgbClr val="0D7377"/>
                </a:solidFill>
                <a:latin typeface="Calibri" pitchFamily="34" charset="0"/>
                <a:ea typeface="Calibri" pitchFamily="34" charset="-122"/>
                <a:cs typeface="Calibri" pitchFamily="34" charset="-120"/>
              </a:rPr>
              <a:t>③ NER</a:t>
            </a:r>
            <a:endParaRPr lang="en-US" sz="1100" dirty="0"/>
          </a:p>
        </p:txBody>
      </p:sp>
      <p:sp>
        <p:nvSpPr>
          <p:cNvPr id="36" name="Text 34"/>
          <p:cNvSpPr/>
          <p:nvPr/>
        </p:nvSpPr>
        <p:spPr>
          <a:xfrm>
            <a:off x="1737360" y="3099816"/>
            <a:ext cx="6949440" cy="3200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spaCy labels PERSON, ORG, GPE, LAW, DATE, MONEY entities.</a:t>
            </a:r>
            <a:endParaRPr lang="en-US" sz="1100" dirty="0"/>
          </a:p>
        </p:txBody>
      </p:sp>
      <p:sp>
        <p:nvSpPr>
          <p:cNvPr id="37" name="Text 35"/>
          <p:cNvSpPr/>
          <p:nvPr/>
        </p:nvSpPr>
        <p:spPr>
          <a:xfrm>
            <a:off x="365760" y="3483864"/>
            <a:ext cx="1325880" cy="320040"/>
          </a:xfrm>
          <a:prstGeom prst="rect">
            <a:avLst/>
          </a:prstGeom>
          <a:noFill/>
          <a:ln/>
        </p:spPr>
        <p:txBody>
          <a:bodyPr wrap="square" rtlCol="0" anchor="ctr"/>
          <a:lstStyle/>
          <a:p>
            <a:pPr indent="0" marL="0">
              <a:buNone/>
            </a:pPr>
            <a:r>
              <a:rPr lang="en-US" sz="1100" b="1" dirty="0">
                <a:solidFill>
                  <a:srgbClr val="0D7377"/>
                </a:solidFill>
                <a:latin typeface="Calibri" pitchFamily="34" charset="0"/>
                <a:ea typeface="Calibri" pitchFamily="34" charset="-122"/>
                <a:cs typeface="Calibri" pitchFamily="34" charset="-120"/>
              </a:rPr>
              <a:t>④ Summarize</a:t>
            </a:r>
            <a:endParaRPr lang="en-US" sz="1100" dirty="0"/>
          </a:p>
        </p:txBody>
      </p:sp>
      <p:sp>
        <p:nvSpPr>
          <p:cNvPr id="38" name="Text 36"/>
          <p:cNvSpPr/>
          <p:nvPr/>
        </p:nvSpPr>
        <p:spPr>
          <a:xfrm>
            <a:off x="1737360" y="3483864"/>
            <a:ext cx="6949440" cy="3200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Each chunk passed to BART; partial summaries merged into one.</a:t>
            </a:r>
            <a:endParaRPr lang="en-US" sz="1100" dirty="0"/>
          </a:p>
        </p:txBody>
      </p:sp>
      <p:sp>
        <p:nvSpPr>
          <p:cNvPr id="39" name="Text 37"/>
          <p:cNvSpPr/>
          <p:nvPr/>
        </p:nvSpPr>
        <p:spPr>
          <a:xfrm>
            <a:off x="365760" y="3867912"/>
            <a:ext cx="1325880" cy="320040"/>
          </a:xfrm>
          <a:prstGeom prst="rect">
            <a:avLst/>
          </a:prstGeom>
          <a:noFill/>
          <a:ln/>
        </p:spPr>
        <p:txBody>
          <a:bodyPr wrap="square" rtlCol="0" anchor="ctr"/>
          <a:lstStyle/>
          <a:p>
            <a:pPr indent="0" marL="0">
              <a:buNone/>
            </a:pPr>
            <a:r>
              <a:rPr lang="en-US" sz="1100" b="1" dirty="0">
                <a:solidFill>
                  <a:srgbClr val="0D7377"/>
                </a:solidFill>
                <a:latin typeface="Calibri" pitchFamily="34" charset="0"/>
                <a:ea typeface="Calibri" pitchFamily="34" charset="-122"/>
                <a:cs typeface="Calibri" pitchFamily="34" charset="-120"/>
              </a:rPr>
              <a:t>⑤ Paraphrase</a:t>
            </a:r>
            <a:endParaRPr lang="en-US" sz="1100" dirty="0"/>
          </a:p>
        </p:txBody>
      </p:sp>
      <p:sp>
        <p:nvSpPr>
          <p:cNvPr id="40" name="Text 38"/>
          <p:cNvSpPr/>
          <p:nvPr/>
        </p:nvSpPr>
        <p:spPr>
          <a:xfrm>
            <a:off x="1737360" y="3867912"/>
            <a:ext cx="6949440" cy="3200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T5 re-writes BART output with simpler vocabulary and syntax.</a:t>
            </a:r>
            <a:endParaRPr lang="en-US" sz="1100" dirty="0"/>
          </a:p>
        </p:txBody>
      </p:sp>
      <p:sp>
        <p:nvSpPr>
          <p:cNvPr id="41" name="Text 39"/>
          <p:cNvSpPr/>
          <p:nvPr/>
        </p:nvSpPr>
        <p:spPr>
          <a:xfrm>
            <a:off x="365760" y="4251960"/>
            <a:ext cx="1325880" cy="320040"/>
          </a:xfrm>
          <a:prstGeom prst="rect">
            <a:avLst/>
          </a:prstGeom>
          <a:noFill/>
          <a:ln/>
        </p:spPr>
        <p:txBody>
          <a:bodyPr wrap="square" rtlCol="0" anchor="ctr"/>
          <a:lstStyle/>
          <a:p>
            <a:pPr indent="0" marL="0">
              <a:buNone/>
            </a:pPr>
            <a:r>
              <a:rPr lang="en-US" sz="1100" b="1" dirty="0">
                <a:solidFill>
                  <a:srgbClr val="0D7377"/>
                </a:solidFill>
                <a:latin typeface="Calibri" pitchFamily="34" charset="0"/>
                <a:ea typeface="Calibri" pitchFamily="34" charset="-122"/>
                <a:cs typeface="Calibri" pitchFamily="34" charset="-120"/>
              </a:rPr>
              <a:t>⑥ Score</a:t>
            </a:r>
            <a:endParaRPr lang="en-US" sz="1100" dirty="0"/>
          </a:p>
        </p:txBody>
      </p:sp>
      <p:sp>
        <p:nvSpPr>
          <p:cNvPr id="42" name="Text 40"/>
          <p:cNvSpPr/>
          <p:nvPr/>
        </p:nvSpPr>
        <p:spPr>
          <a:xfrm>
            <a:off x="1737360" y="4251960"/>
            <a:ext cx="6949440" cy="3200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textstat computes Flesch RE &amp; FK Grade before and after.</a:t>
            </a:r>
            <a:endParaRPr lang="en-US" sz="1100" dirty="0"/>
          </a:p>
        </p:txBody>
      </p:sp>
      <p:sp>
        <p:nvSpPr>
          <p:cNvPr id="43" name="Text 41"/>
          <p:cNvSpPr/>
          <p:nvPr/>
        </p:nvSpPr>
        <p:spPr>
          <a:xfrm>
            <a:off x="365760" y="4636008"/>
            <a:ext cx="1325880" cy="320040"/>
          </a:xfrm>
          <a:prstGeom prst="rect">
            <a:avLst/>
          </a:prstGeom>
          <a:noFill/>
          <a:ln/>
        </p:spPr>
        <p:txBody>
          <a:bodyPr wrap="square" rtlCol="0" anchor="ctr"/>
          <a:lstStyle/>
          <a:p>
            <a:pPr indent="0" marL="0">
              <a:buNone/>
            </a:pPr>
            <a:r>
              <a:rPr lang="en-US" sz="1100" b="1" dirty="0">
                <a:solidFill>
                  <a:srgbClr val="0D7377"/>
                </a:solidFill>
                <a:latin typeface="Calibri" pitchFamily="34" charset="0"/>
                <a:ea typeface="Calibri" pitchFamily="34" charset="-122"/>
                <a:cs typeface="Calibri" pitchFamily="34" charset="-120"/>
              </a:rPr>
              <a:t>⑦ Output</a:t>
            </a:r>
            <a:endParaRPr lang="en-US" sz="1100" dirty="0"/>
          </a:p>
        </p:txBody>
      </p:sp>
      <p:sp>
        <p:nvSpPr>
          <p:cNvPr id="44" name="Text 42"/>
          <p:cNvSpPr/>
          <p:nvPr/>
        </p:nvSpPr>
        <p:spPr>
          <a:xfrm>
            <a:off x="1737360" y="4636008"/>
            <a:ext cx="6949440" cy="3200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Streamlit renders simplified text, entity badges, and score chart.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28600"/>
            <a:ext cx="8412480" cy="594360"/>
          </a:xfrm>
          <a:prstGeom prst="rect">
            <a:avLst/>
          </a:prstGeom>
          <a:noFill/>
          <a:ln/>
        </p:spPr>
        <p:txBody>
          <a:bodyPr wrap="square" rtlCol="0" anchor="ctr"/>
          <a:lstStyle/>
          <a:p>
            <a:pPr indent="0" marL="0">
              <a:buNone/>
            </a:pPr>
            <a:r>
              <a:rPr lang="en-US" sz="2800" b="1" dirty="0">
                <a:solidFill>
                  <a:srgbClr val="0D2137"/>
                </a:solidFill>
                <a:latin typeface="Cambria" pitchFamily="34" charset="0"/>
                <a:ea typeface="Cambria" pitchFamily="34" charset="-122"/>
                <a:cs typeface="Cambria" pitchFamily="34" charset="-120"/>
              </a:rPr>
              <a:t>Implementation</a:t>
            </a:r>
            <a:endParaRPr lang="en-US" sz="2800" dirty="0"/>
          </a:p>
        </p:txBody>
      </p:sp>
      <p:sp>
        <p:nvSpPr>
          <p:cNvPr id="3" name="Shape 1"/>
          <p:cNvSpPr/>
          <p:nvPr/>
        </p:nvSpPr>
        <p:spPr>
          <a:xfrm>
            <a:off x="365760" y="804672"/>
            <a:ext cx="8412480" cy="36576"/>
          </a:xfrm>
          <a:prstGeom prst="rect">
            <a:avLst/>
          </a:prstGeom>
          <a:solidFill>
            <a:srgbClr val="0D7377"/>
          </a:solidFill>
          <a:ln/>
        </p:spPr>
      </p:sp>
      <p:sp>
        <p:nvSpPr>
          <p:cNvPr id="4" name="Shape 2"/>
          <p:cNvSpPr/>
          <p:nvPr/>
        </p:nvSpPr>
        <p:spPr>
          <a:xfrm>
            <a:off x="365760" y="960120"/>
            <a:ext cx="5120640" cy="3566160"/>
          </a:xfrm>
          <a:prstGeom prst="rect">
            <a:avLst/>
          </a:prstGeom>
          <a:solidFill>
            <a:srgbClr val="1E293B"/>
          </a:solidFill>
          <a:ln/>
          <a:effectLst>
            <a:outerShdw sx="100000" sy="100000" kx="0" ky="0" algn="bl" rotWithShape="0" blurRad="101600" dist="38100" dir="8100000">
              <a:srgbClr val="000000">
                <a:alpha val="13000"/>
              </a:srgbClr>
            </a:outerShdw>
          </a:effectLst>
        </p:spPr>
      </p:sp>
      <p:sp>
        <p:nvSpPr>
          <p:cNvPr id="5" name="Shape 3"/>
          <p:cNvSpPr/>
          <p:nvPr/>
        </p:nvSpPr>
        <p:spPr>
          <a:xfrm>
            <a:off x="365760" y="960120"/>
            <a:ext cx="5120640" cy="347472"/>
          </a:xfrm>
          <a:prstGeom prst="rect">
            <a:avLst/>
          </a:prstGeom>
          <a:solidFill>
            <a:srgbClr val="0F172A"/>
          </a:solidFill>
          <a:ln/>
        </p:spPr>
      </p:sp>
      <p:sp>
        <p:nvSpPr>
          <p:cNvPr id="6" name="Text 4"/>
          <p:cNvSpPr/>
          <p:nvPr/>
        </p:nvSpPr>
        <p:spPr>
          <a:xfrm>
            <a:off x="365760" y="960120"/>
            <a:ext cx="5120640" cy="347472"/>
          </a:xfrm>
          <a:prstGeom prst="rect">
            <a:avLst/>
          </a:prstGeom>
          <a:noFill/>
          <a:ln/>
        </p:spPr>
        <p:txBody>
          <a:bodyPr wrap="square" rtlCol="0" anchor="ctr"/>
          <a:lstStyle/>
          <a:p>
            <a:pPr indent="0" marL="0">
              <a:buNone/>
            </a:pPr>
            <a:r>
              <a:rPr lang="en-US" sz="1100" dirty="0">
                <a:solidFill>
                  <a:srgbClr val="CBD5E1"/>
                </a:solidFill>
                <a:latin typeface="Consolas" pitchFamily="34" charset="0"/>
                <a:ea typeface="Consolas" pitchFamily="34" charset="-122"/>
                <a:cs typeface="Consolas" pitchFamily="34" charset="-120"/>
              </a:rPr>
              <a:t>  legal_simplifier.py</a:t>
            </a:r>
            <a:endParaRPr lang="en-US" sz="1100" dirty="0"/>
          </a:p>
        </p:txBody>
      </p:sp>
      <p:sp>
        <p:nvSpPr>
          <p:cNvPr id="7" name="Text 5"/>
          <p:cNvSpPr/>
          <p:nvPr/>
        </p:nvSpPr>
        <p:spPr>
          <a:xfrm>
            <a:off x="502920" y="1417320"/>
            <a:ext cx="4800600" cy="256032"/>
          </a:xfrm>
          <a:prstGeom prst="rect">
            <a:avLst/>
          </a:prstGeom>
          <a:noFill/>
          <a:ln/>
        </p:spPr>
        <p:txBody>
          <a:bodyPr wrap="square" rtlCol="0" anchor="ctr"/>
          <a:lstStyle/>
          <a:p>
            <a:pPr indent="0" marL="0">
              <a:buNone/>
            </a:pPr>
            <a:r>
              <a:rPr lang="en-US" sz="1100" dirty="0">
                <a:solidFill>
                  <a:srgbClr val="608B4E"/>
                </a:solidFill>
                <a:latin typeface="Consolas" pitchFamily="34" charset="0"/>
                <a:ea typeface="Consolas" pitchFamily="34" charset="-122"/>
                <a:cs typeface="Consolas" pitchFamily="34" charset="-120"/>
              </a:rPr>
              <a:t># Load models (once at startup)</a:t>
            </a:r>
            <a:endParaRPr lang="en-US" sz="1100" dirty="0"/>
          </a:p>
        </p:txBody>
      </p:sp>
      <p:sp>
        <p:nvSpPr>
          <p:cNvPr id="8" name="Text 6"/>
          <p:cNvSpPr/>
          <p:nvPr/>
        </p:nvSpPr>
        <p:spPr>
          <a:xfrm>
            <a:off x="502920" y="1682496"/>
            <a:ext cx="4800600" cy="256032"/>
          </a:xfrm>
          <a:prstGeom prst="rect">
            <a:avLst/>
          </a:prstGeom>
          <a:noFill/>
          <a:ln/>
        </p:spPr>
        <p:txBody>
          <a:bodyPr wrap="square" rtlCol="0" anchor="ctr"/>
          <a:lstStyle/>
          <a:p>
            <a:pPr indent="0" marL="0">
              <a:buNone/>
            </a:pPr>
            <a:r>
              <a:rPr lang="en-US" sz="1100" dirty="0">
                <a:solidFill>
                  <a:srgbClr val="DCDCAA"/>
                </a:solidFill>
                <a:latin typeface="Consolas" pitchFamily="34" charset="0"/>
                <a:ea typeface="Consolas" pitchFamily="34" charset="-122"/>
                <a:cs typeface="Consolas" pitchFamily="34" charset="-120"/>
              </a:rPr>
              <a:t>models = load_models()</a:t>
            </a:r>
            <a:endParaRPr lang="en-US" sz="1100" dirty="0"/>
          </a:p>
        </p:txBody>
      </p:sp>
      <p:sp>
        <p:nvSpPr>
          <p:cNvPr id="9" name="Text 7"/>
          <p:cNvSpPr/>
          <p:nvPr/>
        </p:nvSpPr>
        <p:spPr>
          <a:xfrm>
            <a:off x="502920" y="1947672"/>
            <a:ext cx="4800600" cy="256032"/>
          </a:xfrm>
          <a:prstGeom prst="rect">
            <a:avLst/>
          </a:prstGeom>
          <a:noFill/>
          <a:ln/>
        </p:spPr>
        <p:txBody>
          <a:bodyPr wrap="square" rtlCol="0" anchor="ctr"/>
          <a:lstStyle/>
          <a:p>
            <a:pPr indent="0" marL="0">
              <a:buNone/>
            </a:pPr>
            <a:endParaRPr lang="en-US" sz="1100" dirty="0"/>
          </a:p>
        </p:txBody>
      </p:sp>
      <p:sp>
        <p:nvSpPr>
          <p:cNvPr id="10" name="Text 8"/>
          <p:cNvSpPr/>
          <p:nvPr/>
        </p:nvSpPr>
        <p:spPr>
          <a:xfrm>
            <a:off x="502920" y="2212848"/>
            <a:ext cx="4800600" cy="256032"/>
          </a:xfrm>
          <a:prstGeom prst="rect">
            <a:avLst/>
          </a:prstGeom>
          <a:noFill/>
          <a:ln/>
        </p:spPr>
        <p:txBody>
          <a:bodyPr wrap="square" rtlCol="0" anchor="ctr"/>
          <a:lstStyle/>
          <a:p>
            <a:pPr indent="0" marL="0">
              <a:buNone/>
            </a:pPr>
            <a:r>
              <a:rPr lang="en-US" sz="1100" dirty="0">
                <a:solidFill>
                  <a:srgbClr val="608B4E"/>
                </a:solidFill>
                <a:latin typeface="Consolas" pitchFamily="34" charset="0"/>
                <a:ea typeface="Consolas" pitchFamily="34" charset="-122"/>
                <a:cs typeface="Consolas" pitchFamily="34" charset="-120"/>
              </a:rPr>
              <a:t># Full pipeline in one call</a:t>
            </a:r>
            <a:endParaRPr lang="en-US" sz="1100" dirty="0"/>
          </a:p>
        </p:txBody>
      </p:sp>
      <p:sp>
        <p:nvSpPr>
          <p:cNvPr id="11" name="Text 9"/>
          <p:cNvSpPr/>
          <p:nvPr/>
        </p:nvSpPr>
        <p:spPr>
          <a:xfrm>
            <a:off x="502920" y="2478024"/>
            <a:ext cx="4800600" cy="256032"/>
          </a:xfrm>
          <a:prstGeom prst="rect">
            <a:avLst/>
          </a:prstGeom>
          <a:noFill/>
          <a:ln/>
        </p:spPr>
        <p:txBody>
          <a:bodyPr wrap="square" rtlCol="0" anchor="ctr"/>
          <a:lstStyle/>
          <a:p>
            <a:pPr indent="0" marL="0">
              <a:buNone/>
            </a:pPr>
            <a:r>
              <a:rPr lang="en-US" sz="1100" dirty="0">
                <a:solidFill>
                  <a:srgbClr val="DCDCAA"/>
                </a:solidFill>
                <a:latin typeface="Consolas" pitchFamily="34" charset="0"/>
                <a:ea typeface="Consolas" pitchFamily="34" charset="-122"/>
                <a:cs typeface="Consolas" pitchFamily="34" charset="-120"/>
              </a:rPr>
              <a:t>result = simplify_legal_document(</a:t>
            </a:r>
            <a:endParaRPr lang="en-US" sz="1100" dirty="0"/>
          </a:p>
        </p:txBody>
      </p:sp>
      <p:sp>
        <p:nvSpPr>
          <p:cNvPr id="12" name="Text 10"/>
          <p:cNvSpPr/>
          <p:nvPr/>
        </p:nvSpPr>
        <p:spPr>
          <a:xfrm>
            <a:off x="502920" y="2743200"/>
            <a:ext cx="4800600" cy="256032"/>
          </a:xfrm>
          <a:prstGeom prst="rect">
            <a:avLst/>
          </a:prstGeom>
          <a:noFill/>
          <a:ln/>
        </p:spPr>
        <p:txBody>
          <a:bodyPr wrap="square" rtlCol="0" anchor="ctr"/>
          <a:lstStyle/>
          <a:p>
            <a:pPr indent="0" marL="0">
              <a:buNone/>
            </a:pPr>
            <a:r>
              <a:rPr lang="en-US" sz="1100" dirty="0">
                <a:solidFill>
                  <a:srgbClr val="9CDCFE"/>
                </a:solidFill>
                <a:latin typeface="Consolas" pitchFamily="34" charset="0"/>
                <a:ea typeface="Consolas" pitchFamily="34" charset="-122"/>
                <a:cs typeface="Consolas" pitchFamily="34" charset="-120"/>
              </a:rPr>
              <a:t>    text, models</a:t>
            </a:r>
            <a:endParaRPr lang="en-US" sz="1100" dirty="0"/>
          </a:p>
        </p:txBody>
      </p:sp>
      <p:sp>
        <p:nvSpPr>
          <p:cNvPr id="13" name="Text 11"/>
          <p:cNvSpPr/>
          <p:nvPr/>
        </p:nvSpPr>
        <p:spPr>
          <a:xfrm>
            <a:off x="502920" y="3008376"/>
            <a:ext cx="4800600" cy="256032"/>
          </a:xfrm>
          <a:prstGeom prst="rect">
            <a:avLst/>
          </a:prstGeom>
          <a:noFill/>
          <a:ln/>
        </p:spPr>
        <p:txBody>
          <a:bodyPr wrap="square" rtlCol="0" anchor="ctr"/>
          <a:lstStyle/>
          <a:p>
            <a:pPr indent="0" marL="0">
              <a:buNone/>
            </a:pPr>
            <a:r>
              <a:rPr lang="en-US" sz="1100" dirty="0">
                <a:solidFill>
                  <a:srgbClr val="DCDCAA"/>
                </a:solidFill>
                <a:latin typeface="Consolas" pitchFamily="34" charset="0"/>
                <a:ea typeface="Consolas" pitchFamily="34" charset="-122"/>
                <a:cs typeface="Consolas" pitchFamily="34" charset="-120"/>
              </a:rPr>
              <a:t>)</a:t>
            </a:r>
            <a:endParaRPr lang="en-US" sz="1100" dirty="0"/>
          </a:p>
        </p:txBody>
      </p:sp>
      <p:sp>
        <p:nvSpPr>
          <p:cNvPr id="14" name="Text 12"/>
          <p:cNvSpPr/>
          <p:nvPr/>
        </p:nvSpPr>
        <p:spPr>
          <a:xfrm>
            <a:off x="502920" y="3273552"/>
            <a:ext cx="4800600" cy="256032"/>
          </a:xfrm>
          <a:prstGeom prst="rect">
            <a:avLst/>
          </a:prstGeom>
          <a:noFill/>
          <a:ln/>
        </p:spPr>
        <p:txBody>
          <a:bodyPr wrap="square" rtlCol="0" anchor="ctr"/>
          <a:lstStyle/>
          <a:p>
            <a:pPr indent="0" marL="0">
              <a:buNone/>
            </a:pPr>
            <a:endParaRPr lang="en-US" sz="1100" dirty="0"/>
          </a:p>
        </p:txBody>
      </p:sp>
      <p:sp>
        <p:nvSpPr>
          <p:cNvPr id="15" name="Text 13"/>
          <p:cNvSpPr/>
          <p:nvPr/>
        </p:nvSpPr>
        <p:spPr>
          <a:xfrm>
            <a:off x="502920" y="3538728"/>
            <a:ext cx="4800600" cy="256032"/>
          </a:xfrm>
          <a:prstGeom prst="rect">
            <a:avLst/>
          </a:prstGeom>
          <a:noFill/>
          <a:ln/>
        </p:spPr>
        <p:txBody>
          <a:bodyPr wrap="square" rtlCol="0" anchor="ctr"/>
          <a:lstStyle/>
          <a:p>
            <a:pPr indent="0" marL="0">
              <a:buNone/>
            </a:pPr>
            <a:r>
              <a:rPr lang="en-US" sz="1100" dirty="0">
                <a:solidFill>
                  <a:srgbClr val="608B4E"/>
                </a:solidFill>
                <a:latin typeface="Consolas" pitchFamily="34" charset="0"/>
                <a:ea typeface="Consolas" pitchFamily="34" charset="-122"/>
                <a:cs typeface="Consolas" pitchFamily="34" charset="-120"/>
              </a:rPr>
              <a:t># Access outputs</a:t>
            </a:r>
            <a:endParaRPr lang="en-US" sz="1100" dirty="0"/>
          </a:p>
        </p:txBody>
      </p:sp>
      <p:sp>
        <p:nvSpPr>
          <p:cNvPr id="16" name="Text 14"/>
          <p:cNvSpPr/>
          <p:nvPr/>
        </p:nvSpPr>
        <p:spPr>
          <a:xfrm>
            <a:off x="502920" y="3803904"/>
            <a:ext cx="4800600" cy="256032"/>
          </a:xfrm>
          <a:prstGeom prst="rect">
            <a:avLst/>
          </a:prstGeom>
          <a:noFill/>
          <a:ln/>
        </p:spPr>
        <p:txBody>
          <a:bodyPr wrap="square" rtlCol="0" anchor="ctr"/>
          <a:lstStyle/>
          <a:p>
            <a:pPr indent="0" marL="0">
              <a:buNone/>
            </a:pPr>
            <a:r>
              <a:rPr lang="en-US" sz="1100" dirty="0">
                <a:solidFill>
                  <a:srgbClr val="CE9178"/>
                </a:solidFill>
                <a:latin typeface="Consolas" pitchFamily="34" charset="0"/>
                <a:ea typeface="Consolas" pitchFamily="34" charset="-122"/>
                <a:cs typeface="Consolas" pitchFamily="34" charset="-120"/>
              </a:rPr>
              <a:t>result['simplified_text']</a:t>
            </a:r>
            <a:endParaRPr lang="en-US" sz="1100" dirty="0"/>
          </a:p>
        </p:txBody>
      </p:sp>
      <p:sp>
        <p:nvSpPr>
          <p:cNvPr id="17" name="Text 15"/>
          <p:cNvSpPr/>
          <p:nvPr/>
        </p:nvSpPr>
        <p:spPr>
          <a:xfrm>
            <a:off x="502920" y="4069080"/>
            <a:ext cx="4800600" cy="256032"/>
          </a:xfrm>
          <a:prstGeom prst="rect">
            <a:avLst/>
          </a:prstGeom>
          <a:noFill/>
          <a:ln/>
        </p:spPr>
        <p:txBody>
          <a:bodyPr wrap="square" rtlCol="0" anchor="ctr"/>
          <a:lstStyle/>
          <a:p>
            <a:pPr indent="0" marL="0">
              <a:buNone/>
            </a:pPr>
            <a:r>
              <a:rPr lang="en-US" sz="1100" dirty="0">
                <a:solidFill>
                  <a:srgbClr val="CE9178"/>
                </a:solidFill>
                <a:latin typeface="Consolas" pitchFamily="34" charset="0"/>
                <a:ea typeface="Consolas" pitchFamily="34" charset="-122"/>
                <a:cs typeface="Consolas" pitchFamily="34" charset="-120"/>
              </a:rPr>
              <a:t>result['entities']</a:t>
            </a:r>
            <a:endParaRPr lang="en-US" sz="1100" dirty="0"/>
          </a:p>
        </p:txBody>
      </p:sp>
      <p:sp>
        <p:nvSpPr>
          <p:cNvPr id="18" name="Text 16"/>
          <p:cNvSpPr/>
          <p:nvPr/>
        </p:nvSpPr>
        <p:spPr>
          <a:xfrm>
            <a:off x="502920" y="4334256"/>
            <a:ext cx="4800600" cy="256032"/>
          </a:xfrm>
          <a:prstGeom prst="rect">
            <a:avLst/>
          </a:prstGeom>
          <a:noFill/>
          <a:ln/>
        </p:spPr>
        <p:txBody>
          <a:bodyPr wrap="square" rtlCol="0" anchor="ctr"/>
          <a:lstStyle/>
          <a:p>
            <a:pPr indent="0" marL="0">
              <a:buNone/>
            </a:pPr>
            <a:r>
              <a:rPr lang="en-US" sz="1100" dirty="0">
                <a:solidFill>
                  <a:srgbClr val="CE9178"/>
                </a:solidFill>
                <a:latin typeface="Consolas" pitchFamily="34" charset="0"/>
                <a:ea typeface="Consolas" pitchFamily="34" charset="-122"/>
                <a:cs typeface="Consolas" pitchFamily="34" charset="-120"/>
              </a:rPr>
              <a:t>result['readability']</a:t>
            </a:r>
            <a:endParaRPr lang="en-US" sz="1100" dirty="0"/>
          </a:p>
        </p:txBody>
      </p:sp>
      <p:sp>
        <p:nvSpPr>
          <p:cNvPr id="19" name="Shape 17"/>
          <p:cNvSpPr/>
          <p:nvPr/>
        </p:nvSpPr>
        <p:spPr>
          <a:xfrm>
            <a:off x="5623560" y="1051560"/>
            <a:ext cx="3154680" cy="4114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0" name="Shape 18"/>
          <p:cNvSpPr/>
          <p:nvPr/>
        </p:nvSpPr>
        <p:spPr>
          <a:xfrm>
            <a:off x="5623560" y="1051560"/>
            <a:ext cx="64008" cy="411480"/>
          </a:xfrm>
          <a:prstGeom prst="rect">
            <a:avLst/>
          </a:prstGeom>
          <a:solidFill>
            <a:srgbClr val="0D7377"/>
          </a:solidFill>
          <a:ln/>
        </p:spPr>
      </p:sp>
      <p:sp>
        <p:nvSpPr>
          <p:cNvPr id="21" name="Text 19"/>
          <p:cNvSpPr/>
          <p:nvPr/>
        </p:nvSpPr>
        <p:spPr>
          <a:xfrm>
            <a:off x="5760720" y="1069848"/>
            <a:ext cx="2926080" cy="201168"/>
          </a:xfrm>
          <a:prstGeom prst="rect">
            <a:avLst/>
          </a:prstGeom>
          <a:noFill/>
          <a:ln/>
        </p:spPr>
        <p:txBody>
          <a:bodyPr wrap="square" rtlCol="0" anchor="ctr"/>
          <a:lstStyle/>
          <a:p>
            <a:pPr indent="0" marL="0">
              <a:buNone/>
            </a:pPr>
            <a:r>
              <a:rPr lang="en-US" sz="950" b="1" dirty="0">
                <a:solidFill>
                  <a:srgbClr val="0D7377"/>
                </a:solidFill>
                <a:latin typeface="Consolas" pitchFamily="34" charset="0"/>
                <a:ea typeface="Consolas" pitchFamily="34" charset="-122"/>
                <a:cs typeface="Consolas" pitchFamily="34" charset="-120"/>
              </a:rPr>
              <a:t>load_models()</a:t>
            </a:r>
            <a:endParaRPr lang="en-US" sz="950" dirty="0"/>
          </a:p>
        </p:txBody>
      </p:sp>
      <p:sp>
        <p:nvSpPr>
          <p:cNvPr id="22" name="Text 20"/>
          <p:cNvSpPr/>
          <p:nvPr/>
        </p:nvSpPr>
        <p:spPr>
          <a:xfrm>
            <a:off x="5760720" y="1271016"/>
            <a:ext cx="292608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Loads BART, T5, spaCy once; cached for performance.</a:t>
            </a:r>
            <a:endParaRPr lang="en-US" sz="900" dirty="0"/>
          </a:p>
        </p:txBody>
      </p:sp>
      <p:sp>
        <p:nvSpPr>
          <p:cNvPr id="23" name="Shape 21"/>
          <p:cNvSpPr/>
          <p:nvPr/>
        </p:nvSpPr>
        <p:spPr>
          <a:xfrm>
            <a:off x="5623560" y="1554480"/>
            <a:ext cx="3154680" cy="4114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4" name="Shape 22"/>
          <p:cNvSpPr/>
          <p:nvPr/>
        </p:nvSpPr>
        <p:spPr>
          <a:xfrm>
            <a:off x="5623560" y="1554480"/>
            <a:ext cx="64008" cy="411480"/>
          </a:xfrm>
          <a:prstGeom prst="rect">
            <a:avLst/>
          </a:prstGeom>
          <a:solidFill>
            <a:srgbClr val="5B6AF7"/>
          </a:solidFill>
          <a:ln/>
        </p:spPr>
      </p:sp>
      <p:sp>
        <p:nvSpPr>
          <p:cNvPr id="25" name="Text 23"/>
          <p:cNvSpPr/>
          <p:nvPr/>
        </p:nvSpPr>
        <p:spPr>
          <a:xfrm>
            <a:off x="5760720" y="1572768"/>
            <a:ext cx="2926080" cy="201168"/>
          </a:xfrm>
          <a:prstGeom prst="rect">
            <a:avLst/>
          </a:prstGeom>
          <a:noFill/>
          <a:ln/>
        </p:spPr>
        <p:txBody>
          <a:bodyPr wrap="square" rtlCol="0" anchor="ctr"/>
          <a:lstStyle/>
          <a:p>
            <a:pPr indent="0" marL="0">
              <a:buNone/>
            </a:pPr>
            <a:r>
              <a:rPr lang="en-US" sz="950" b="1" dirty="0">
                <a:solidFill>
                  <a:srgbClr val="5B6AF7"/>
                </a:solidFill>
                <a:latin typeface="Consolas" pitchFamily="34" charset="0"/>
                <a:ea typeface="Consolas" pitchFamily="34" charset="-122"/>
                <a:cs typeface="Consolas" pitchFamily="34" charset="-120"/>
              </a:rPr>
              <a:t>preprocess(text)</a:t>
            </a:r>
            <a:endParaRPr lang="en-US" sz="950" dirty="0"/>
          </a:p>
        </p:txBody>
      </p:sp>
      <p:sp>
        <p:nvSpPr>
          <p:cNvPr id="26" name="Text 24"/>
          <p:cNvSpPr/>
          <p:nvPr/>
        </p:nvSpPr>
        <p:spPr>
          <a:xfrm>
            <a:off x="5760720" y="1773936"/>
            <a:ext cx="292608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Cleans whitespace, quotes, dashes, citations.</a:t>
            </a:r>
            <a:endParaRPr lang="en-US" sz="900" dirty="0"/>
          </a:p>
        </p:txBody>
      </p:sp>
      <p:sp>
        <p:nvSpPr>
          <p:cNvPr id="27" name="Shape 25"/>
          <p:cNvSpPr/>
          <p:nvPr/>
        </p:nvSpPr>
        <p:spPr>
          <a:xfrm>
            <a:off x="5623560" y="2057400"/>
            <a:ext cx="3154680" cy="4114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8" name="Shape 26"/>
          <p:cNvSpPr/>
          <p:nvPr/>
        </p:nvSpPr>
        <p:spPr>
          <a:xfrm>
            <a:off x="5623560" y="2057400"/>
            <a:ext cx="64008" cy="411480"/>
          </a:xfrm>
          <a:prstGeom prst="rect">
            <a:avLst/>
          </a:prstGeom>
          <a:solidFill>
            <a:srgbClr val="E87A2A"/>
          </a:solidFill>
          <a:ln/>
        </p:spPr>
      </p:sp>
      <p:sp>
        <p:nvSpPr>
          <p:cNvPr id="29" name="Text 27"/>
          <p:cNvSpPr/>
          <p:nvPr/>
        </p:nvSpPr>
        <p:spPr>
          <a:xfrm>
            <a:off x="5760720" y="2075688"/>
            <a:ext cx="2926080" cy="201168"/>
          </a:xfrm>
          <a:prstGeom prst="rect">
            <a:avLst/>
          </a:prstGeom>
          <a:noFill/>
          <a:ln/>
        </p:spPr>
        <p:txBody>
          <a:bodyPr wrap="square" rtlCol="0" anchor="ctr"/>
          <a:lstStyle/>
          <a:p>
            <a:pPr indent="0" marL="0">
              <a:buNone/>
            </a:pPr>
            <a:r>
              <a:rPr lang="en-US" sz="950" b="1" dirty="0">
                <a:solidFill>
                  <a:srgbClr val="E87A2A"/>
                </a:solidFill>
                <a:latin typeface="Consolas" pitchFamily="34" charset="0"/>
                <a:ea typeface="Consolas" pitchFamily="34" charset="-122"/>
                <a:cs typeface="Consolas" pitchFamily="34" charset="-120"/>
              </a:rPr>
              <a:t>chunk_text(text)</a:t>
            </a:r>
            <a:endParaRPr lang="en-US" sz="950" dirty="0"/>
          </a:p>
        </p:txBody>
      </p:sp>
      <p:sp>
        <p:nvSpPr>
          <p:cNvPr id="30" name="Text 28"/>
          <p:cNvSpPr/>
          <p:nvPr/>
        </p:nvSpPr>
        <p:spPr>
          <a:xfrm>
            <a:off x="5760720" y="2276856"/>
            <a:ext cx="292608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Splits into ≤400-word sentence-aware segments.</a:t>
            </a:r>
            <a:endParaRPr lang="en-US" sz="900" dirty="0"/>
          </a:p>
        </p:txBody>
      </p:sp>
      <p:sp>
        <p:nvSpPr>
          <p:cNvPr id="31" name="Shape 29"/>
          <p:cNvSpPr/>
          <p:nvPr/>
        </p:nvSpPr>
        <p:spPr>
          <a:xfrm>
            <a:off x="5623560" y="2560320"/>
            <a:ext cx="3154680" cy="4114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32" name="Shape 30"/>
          <p:cNvSpPr/>
          <p:nvPr/>
        </p:nvSpPr>
        <p:spPr>
          <a:xfrm>
            <a:off x="5623560" y="2560320"/>
            <a:ext cx="64008" cy="411480"/>
          </a:xfrm>
          <a:prstGeom prst="rect">
            <a:avLst/>
          </a:prstGeom>
          <a:solidFill>
            <a:srgbClr val="B0363A"/>
          </a:solidFill>
          <a:ln/>
        </p:spPr>
      </p:sp>
      <p:sp>
        <p:nvSpPr>
          <p:cNvPr id="33" name="Text 31"/>
          <p:cNvSpPr/>
          <p:nvPr/>
        </p:nvSpPr>
        <p:spPr>
          <a:xfrm>
            <a:off x="5760720" y="2578608"/>
            <a:ext cx="2926080" cy="201168"/>
          </a:xfrm>
          <a:prstGeom prst="rect">
            <a:avLst/>
          </a:prstGeom>
          <a:noFill/>
          <a:ln/>
        </p:spPr>
        <p:txBody>
          <a:bodyPr wrap="square" rtlCol="0" anchor="ctr"/>
          <a:lstStyle/>
          <a:p>
            <a:pPr indent="0" marL="0">
              <a:buNone/>
            </a:pPr>
            <a:r>
              <a:rPr lang="en-US" sz="950" b="1" dirty="0">
                <a:solidFill>
                  <a:srgbClr val="B0363A"/>
                </a:solidFill>
                <a:latin typeface="Consolas" pitchFamily="34" charset="0"/>
                <a:ea typeface="Consolas" pitchFamily="34" charset="-122"/>
                <a:cs typeface="Consolas" pitchFamily="34" charset="-120"/>
              </a:rPr>
              <a:t>extract_entities(text, nlp)</a:t>
            </a:r>
            <a:endParaRPr lang="en-US" sz="950" dirty="0"/>
          </a:p>
        </p:txBody>
      </p:sp>
      <p:sp>
        <p:nvSpPr>
          <p:cNvPr id="34" name="Text 32"/>
          <p:cNvSpPr/>
          <p:nvPr/>
        </p:nvSpPr>
        <p:spPr>
          <a:xfrm>
            <a:off x="5760720" y="2779776"/>
            <a:ext cx="292608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Returns structured list of legal NER entities.</a:t>
            </a:r>
            <a:endParaRPr lang="en-US" sz="900" dirty="0"/>
          </a:p>
        </p:txBody>
      </p:sp>
      <p:sp>
        <p:nvSpPr>
          <p:cNvPr id="35" name="Shape 33"/>
          <p:cNvSpPr/>
          <p:nvPr/>
        </p:nvSpPr>
        <p:spPr>
          <a:xfrm>
            <a:off x="5623560" y="3063240"/>
            <a:ext cx="3154680" cy="4114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36" name="Shape 34"/>
          <p:cNvSpPr/>
          <p:nvPr/>
        </p:nvSpPr>
        <p:spPr>
          <a:xfrm>
            <a:off x="5623560" y="3063240"/>
            <a:ext cx="64008" cy="411480"/>
          </a:xfrm>
          <a:prstGeom prst="rect">
            <a:avLst/>
          </a:prstGeom>
          <a:solidFill>
            <a:srgbClr val="0D7377"/>
          </a:solidFill>
          <a:ln/>
        </p:spPr>
      </p:sp>
      <p:sp>
        <p:nvSpPr>
          <p:cNvPr id="37" name="Text 35"/>
          <p:cNvSpPr/>
          <p:nvPr/>
        </p:nvSpPr>
        <p:spPr>
          <a:xfrm>
            <a:off x="5760720" y="3081528"/>
            <a:ext cx="2926080" cy="201168"/>
          </a:xfrm>
          <a:prstGeom prst="rect">
            <a:avLst/>
          </a:prstGeom>
          <a:noFill/>
          <a:ln/>
        </p:spPr>
        <p:txBody>
          <a:bodyPr wrap="square" rtlCol="0" anchor="ctr"/>
          <a:lstStyle/>
          <a:p>
            <a:pPr indent="0" marL="0">
              <a:buNone/>
            </a:pPr>
            <a:r>
              <a:rPr lang="en-US" sz="950" b="1" dirty="0">
                <a:solidFill>
                  <a:srgbClr val="0D7377"/>
                </a:solidFill>
                <a:latin typeface="Consolas" pitchFamily="34" charset="0"/>
                <a:ea typeface="Consolas" pitchFamily="34" charset="-122"/>
                <a:cs typeface="Consolas" pitchFamily="34" charset="-120"/>
              </a:rPr>
              <a:t>summarize(text, model)</a:t>
            </a:r>
            <a:endParaRPr lang="en-US" sz="950" dirty="0"/>
          </a:p>
        </p:txBody>
      </p:sp>
      <p:sp>
        <p:nvSpPr>
          <p:cNvPr id="38" name="Text 36"/>
          <p:cNvSpPr/>
          <p:nvPr/>
        </p:nvSpPr>
        <p:spPr>
          <a:xfrm>
            <a:off x="5760720" y="3282696"/>
            <a:ext cx="292608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BART abstractive summary with chunk merging.</a:t>
            </a:r>
            <a:endParaRPr lang="en-US" sz="900" dirty="0"/>
          </a:p>
        </p:txBody>
      </p:sp>
      <p:sp>
        <p:nvSpPr>
          <p:cNvPr id="39" name="Shape 37"/>
          <p:cNvSpPr/>
          <p:nvPr/>
        </p:nvSpPr>
        <p:spPr>
          <a:xfrm>
            <a:off x="5623560" y="3566160"/>
            <a:ext cx="3154680" cy="4114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40" name="Shape 38"/>
          <p:cNvSpPr/>
          <p:nvPr/>
        </p:nvSpPr>
        <p:spPr>
          <a:xfrm>
            <a:off x="5623560" y="3566160"/>
            <a:ext cx="64008" cy="411480"/>
          </a:xfrm>
          <a:prstGeom prst="rect">
            <a:avLst/>
          </a:prstGeom>
          <a:solidFill>
            <a:srgbClr val="5B6AF7"/>
          </a:solidFill>
          <a:ln/>
        </p:spPr>
      </p:sp>
      <p:sp>
        <p:nvSpPr>
          <p:cNvPr id="41" name="Text 39"/>
          <p:cNvSpPr/>
          <p:nvPr/>
        </p:nvSpPr>
        <p:spPr>
          <a:xfrm>
            <a:off x="5760720" y="3584448"/>
            <a:ext cx="2926080" cy="201168"/>
          </a:xfrm>
          <a:prstGeom prst="rect">
            <a:avLst/>
          </a:prstGeom>
          <a:noFill/>
          <a:ln/>
        </p:spPr>
        <p:txBody>
          <a:bodyPr wrap="square" rtlCol="0" anchor="ctr"/>
          <a:lstStyle/>
          <a:p>
            <a:pPr indent="0" marL="0">
              <a:buNone/>
            </a:pPr>
            <a:r>
              <a:rPr lang="en-US" sz="950" b="1" dirty="0">
                <a:solidFill>
                  <a:srgbClr val="5B6AF7"/>
                </a:solidFill>
                <a:latin typeface="Consolas" pitchFamily="34" charset="0"/>
                <a:ea typeface="Consolas" pitchFamily="34" charset="-122"/>
                <a:cs typeface="Consolas" pitchFamily="34" charset="-120"/>
              </a:rPr>
              <a:t>paraphrase(text, t5)</a:t>
            </a:r>
            <a:endParaRPr lang="en-US" sz="950" dirty="0"/>
          </a:p>
        </p:txBody>
      </p:sp>
      <p:sp>
        <p:nvSpPr>
          <p:cNvPr id="42" name="Text 40"/>
          <p:cNvSpPr/>
          <p:nvPr/>
        </p:nvSpPr>
        <p:spPr>
          <a:xfrm>
            <a:off x="5760720" y="3785616"/>
            <a:ext cx="292608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T5 beam-search simplification of the summary.</a:t>
            </a:r>
            <a:endParaRPr lang="en-US" sz="900" dirty="0"/>
          </a:p>
        </p:txBody>
      </p:sp>
      <p:sp>
        <p:nvSpPr>
          <p:cNvPr id="43" name="Shape 41"/>
          <p:cNvSpPr/>
          <p:nvPr/>
        </p:nvSpPr>
        <p:spPr>
          <a:xfrm>
            <a:off x="5623560" y="4069080"/>
            <a:ext cx="3154680" cy="4114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44" name="Shape 42"/>
          <p:cNvSpPr/>
          <p:nvPr/>
        </p:nvSpPr>
        <p:spPr>
          <a:xfrm>
            <a:off x="5623560" y="4069080"/>
            <a:ext cx="64008" cy="411480"/>
          </a:xfrm>
          <a:prstGeom prst="rect">
            <a:avLst/>
          </a:prstGeom>
          <a:solidFill>
            <a:srgbClr val="E87A2A"/>
          </a:solidFill>
          <a:ln/>
        </p:spPr>
      </p:sp>
      <p:sp>
        <p:nvSpPr>
          <p:cNvPr id="45" name="Text 43"/>
          <p:cNvSpPr/>
          <p:nvPr/>
        </p:nvSpPr>
        <p:spPr>
          <a:xfrm>
            <a:off x="5760720" y="4087368"/>
            <a:ext cx="2926080" cy="201168"/>
          </a:xfrm>
          <a:prstGeom prst="rect">
            <a:avLst/>
          </a:prstGeom>
          <a:noFill/>
          <a:ln/>
        </p:spPr>
        <p:txBody>
          <a:bodyPr wrap="square" rtlCol="0" anchor="ctr"/>
          <a:lstStyle/>
          <a:p>
            <a:pPr indent="0" marL="0">
              <a:buNone/>
            </a:pPr>
            <a:r>
              <a:rPr lang="en-US" sz="950" b="1" dirty="0">
                <a:solidFill>
                  <a:srgbClr val="E87A2A"/>
                </a:solidFill>
                <a:latin typeface="Consolas" pitchFamily="34" charset="0"/>
                <a:ea typeface="Consolas" pitchFamily="34" charset="-122"/>
                <a:cs typeface="Consolas" pitchFamily="34" charset="-120"/>
              </a:rPr>
              <a:t>readability_scores(orig, s)</a:t>
            </a:r>
            <a:endParaRPr lang="en-US" sz="950" dirty="0"/>
          </a:p>
        </p:txBody>
      </p:sp>
      <p:sp>
        <p:nvSpPr>
          <p:cNvPr id="46" name="Text 44"/>
          <p:cNvSpPr/>
          <p:nvPr/>
        </p:nvSpPr>
        <p:spPr>
          <a:xfrm>
            <a:off x="5760720" y="4288536"/>
            <a:ext cx="292608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Flesch RE + FK Grade before &amp; after comparison.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7377"/>
          </a:solidFill>
          <a:ln/>
        </p:spPr>
      </p:sp>
      <p:sp>
        <p:nvSpPr>
          <p:cNvPr id="3" name="Text 1"/>
          <p:cNvSpPr/>
          <p:nvPr/>
        </p:nvSpPr>
        <p:spPr>
          <a:xfrm>
            <a:off x="457200" y="228600"/>
            <a:ext cx="8229600" cy="5943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Live Demo &amp; Sample Output</a:t>
            </a:r>
            <a:endParaRPr lang="en-US" sz="2800" dirty="0"/>
          </a:p>
        </p:txBody>
      </p:sp>
      <p:sp>
        <p:nvSpPr>
          <p:cNvPr id="4" name="Shape 2"/>
          <p:cNvSpPr/>
          <p:nvPr/>
        </p:nvSpPr>
        <p:spPr>
          <a:xfrm>
            <a:off x="457200" y="804672"/>
            <a:ext cx="8229600" cy="36576"/>
          </a:xfrm>
          <a:prstGeom prst="rect">
            <a:avLst/>
          </a:prstGeom>
          <a:solidFill>
            <a:srgbClr val="0D7377"/>
          </a:solidFill>
          <a:ln/>
        </p:spPr>
      </p:sp>
      <p:sp>
        <p:nvSpPr>
          <p:cNvPr id="5" name="Shape 3"/>
          <p:cNvSpPr/>
          <p:nvPr/>
        </p:nvSpPr>
        <p:spPr>
          <a:xfrm>
            <a:off x="457200" y="960120"/>
            <a:ext cx="4069080" cy="3017520"/>
          </a:xfrm>
          <a:prstGeom prst="rect">
            <a:avLst/>
          </a:prstGeom>
          <a:solidFill>
            <a:srgbClr val="0F172A"/>
          </a:solidFill>
          <a:ln/>
          <a:effectLst>
            <a:outerShdw sx="100000" sy="100000" kx="0" ky="0" algn="bl" rotWithShape="0" blurRad="101600" dist="38100" dir="8100000">
              <a:srgbClr val="000000">
                <a:alpha val="13000"/>
              </a:srgbClr>
            </a:outerShdw>
          </a:effectLst>
        </p:spPr>
      </p:sp>
      <p:sp>
        <p:nvSpPr>
          <p:cNvPr id="6" name="Text 4"/>
          <p:cNvSpPr/>
          <p:nvPr/>
        </p:nvSpPr>
        <p:spPr>
          <a:xfrm>
            <a:off x="548640" y="1024128"/>
            <a:ext cx="3840480" cy="347472"/>
          </a:xfrm>
          <a:prstGeom prst="rect">
            <a:avLst/>
          </a:prstGeom>
          <a:noFill/>
          <a:ln/>
        </p:spPr>
        <p:txBody>
          <a:bodyPr wrap="square" rtlCol="0" anchor="ctr"/>
          <a:lstStyle/>
          <a:p>
            <a:pPr indent="0" marL="0">
              <a:buNone/>
            </a:pPr>
            <a:r>
              <a:rPr lang="en-US" sz="1200" b="1" dirty="0">
                <a:solidFill>
                  <a:srgbClr val="B0363A"/>
                </a:solidFill>
                <a:latin typeface="Calibri" pitchFamily="34" charset="0"/>
                <a:ea typeface="Calibri" pitchFamily="34" charset="-122"/>
                <a:cs typeface="Calibri" pitchFamily="34" charset="-120"/>
              </a:rPr>
              <a:t>📜  BEFORE  (Original Legal Text)</a:t>
            </a:r>
            <a:endParaRPr lang="en-US" sz="1200" dirty="0"/>
          </a:p>
        </p:txBody>
      </p:sp>
      <p:sp>
        <p:nvSpPr>
          <p:cNvPr id="7" name="Text 5"/>
          <p:cNvSpPr/>
          <p:nvPr/>
        </p:nvSpPr>
        <p:spPr>
          <a:xfrm>
            <a:off x="548640" y="1417320"/>
            <a:ext cx="3840480" cy="1417320"/>
          </a:xfrm>
          <a:prstGeom prst="rect">
            <a:avLst/>
          </a:prstGeom>
          <a:noFill/>
          <a:ln/>
        </p:spPr>
        <p:txBody>
          <a:bodyPr wrap="square" rtlCol="0" anchor="ctr"/>
          <a:lstStyle/>
          <a:p>
            <a:pPr indent="0" marL="0">
              <a:buNone/>
            </a:pPr>
            <a:r>
              <a:rPr lang="en-US" sz="1050" i="1" dirty="0">
                <a:solidFill>
                  <a:srgbClr val="94A3B8"/>
                </a:solidFill>
                <a:latin typeface="Calibri" pitchFamily="34" charset="0"/>
                <a:ea typeface="Calibri" pitchFamily="34" charset="-122"/>
                <a:cs typeface="Calibri" pitchFamily="34" charset="-120"/>
              </a:rPr>
              <a:t>WHEREAS, the Party of the First Part (hereinafter referred to as the 'Licensor') is the owner of certain intellectual property rights… and Licensee shall not sublicense, modify, adapt, translate, reverse engineer, decompile, or create derivative works…</a:t>
            </a:r>
            <a:endParaRPr lang="en-US" sz="1050" dirty="0"/>
          </a:p>
        </p:txBody>
      </p:sp>
      <p:sp>
        <p:nvSpPr>
          <p:cNvPr id="8" name="Text 6"/>
          <p:cNvSpPr/>
          <p:nvPr/>
        </p:nvSpPr>
        <p:spPr>
          <a:xfrm>
            <a:off x="548640" y="2852928"/>
            <a:ext cx="3840480" cy="320040"/>
          </a:xfrm>
          <a:prstGeom prst="rect">
            <a:avLst/>
          </a:prstGeom>
          <a:noFill/>
          <a:ln/>
        </p:spPr>
        <p:txBody>
          <a:bodyPr wrap="square" rtlCol="0" anchor="ctr"/>
          <a:lstStyle/>
          <a:p>
            <a:pPr indent="0" marL="0">
              <a:buNone/>
            </a:pPr>
            <a:r>
              <a:rPr lang="en-US" sz="1100" b="1" dirty="0">
                <a:solidFill>
                  <a:srgbClr val="B0363A"/>
                </a:solidFill>
                <a:latin typeface="Calibri" pitchFamily="34" charset="0"/>
                <a:ea typeface="Calibri" pitchFamily="34" charset="-122"/>
                <a:cs typeface="Calibri" pitchFamily="34" charset="-120"/>
              </a:rPr>
              <a:t>Flesch Score: 18.4  (Very Confusing)</a:t>
            </a:r>
            <a:endParaRPr lang="en-US" sz="1100" dirty="0"/>
          </a:p>
        </p:txBody>
      </p:sp>
      <p:sp>
        <p:nvSpPr>
          <p:cNvPr id="9" name="Shape 7"/>
          <p:cNvSpPr/>
          <p:nvPr/>
        </p:nvSpPr>
        <p:spPr>
          <a:xfrm>
            <a:off x="4663440" y="960120"/>
            <a:ext cx="4069080" cy="3017520"/>
          </a:xfrm>
          <a:prstGeom prst="rect">
            <a:avLst/>
          </a:prstGeom>
          <a:solidFill>
            <a:srgbClr val="0D7377">
              <a:alpha val="20000"/>
            </a:srgbClr>
          </a:solidFill>
          <a:ln/>
          <a:effectLst>
            <a:outerShdw sx="100000" sy="100000" kx="0" ky="0" algn="bl" rotWithShape="0" blurRad="101600" dist="38100" dir="8100000">
              <a:srgbClr val="000000">
                <a:alpha val="13000"/>
              </a:srgbClr>
            </a:outerShdw>
          </a:effectLst>
        </p:spPr>
      </p:sp>
      <p:sp>
        <p:nvSpPr>
          <p:cNvPr id="10" name="Text 8"/>
          <p:cNvSpPr/>
          <p:nvPr/>
        </p:nvSpPr>
        <p:spPr>
          <a:xfrm>
            <a:off x="4754880" y="1024128"/>
            <a:ext cx="3840480" cy="347472"/>
          </a:xfrm>
          <a:prstGeom prst="rect">
            <a:avLst/>
          </a:prstGeom>
          <a:noFill/>
          <a:ln/>
        </p:spPr>
        <p:txBody>
          <a:bodyPr wrap="square" rtlCol="0" anchor="ctr"/>
          <a:lstStyle/>
          <a:p>
            <a:pPr indent="0" marL="0">
              <a:buNone/>
            </a:pPr>
            <a:r>
              <a:rPr lang="en-US" sz="1200" b="1" dirty="0">
                <a:solidFill>
                  <a:srgbClr val="0D7377"/>
                </a:solidFill>
                <a:latin typeface="Calibri" pitchFamily="34" charset="0"/>
                <a:ea typeface="Calibri" pitchFamily="34" charset="-122"/>
                <a:cs typeface="Calibri" pitchFamily="34" charset="-120"/>
              </a:rPr>
              <a:t>✅  AFTER  (Simplified Output)</a:t>
            </a:r>
            <a:endParaRPr lang="en-US" sz="1200" dirty="0"/>
          </a:p>
        </p:txBody>
      </p:sp>
      <p:sp>
        <p:nvSpPr>
          <p:cNvPr id="11" name="Text 9"/>
          <p:cNvSpPr/>
          <p:nvPr/>
        </p:nvSpPr>
        <p:spPr>
          <a:xfrm>
            <a:off x="4754880" y="1417320"/>
            <a:ext cx="3840480" cy="14173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The Licensor (software owner) gives the Licensee (user) permission to use the software only for their own business. The user cannot share, change, or copy the software without permission.</a:t>
            </a:r>
            <a:endParaRPr lang="en-US" sz="1100" dirty="0"/>
          </a:p>
        </p:txBody>
      </p:sp>
      <p:sp>
        <p:nvSpPr>
          <p:cNvPr id="12" name="Text 10"/>
          <p:cNvSpPr/>
          <p:nvPr/>
        </p:nvSpPr>
        <p:spPr>
          <a:xfrm>
            <a:off x="4754880" y="2852928"/>
            <a:ext cx="3840480" cy="320040"/>
          </a:xfrm>
          <a:prstGeom prst="rect">
            <a:avLst/>
          </a:prstGeom>
          <a:noFill/>
          <a:ln/>
        </p:spPr>
        <p:txBody>
          <a:bodyPr wrap="square" rtlCol="0" anchor="ctr"/>
          <a:lstStyle/>
          <a:p>
            <a:pPr indent="0" marL="0">
              <a:buNone/>
            </a:pPr>
            <a:r>
              <a:rPr lang="en-US" sz="1100" b="1" dirty="0">
                <a:solidFill>
                  <a:srgbClr val="0D7377"/>
                </a:solidFill>
                <a:latin typeface="Calibri" pitchFamily="34" charset="0"/>
                <a:ea typeface="Calibri" pitchFamily="34" charset="-122"/>
                <a:cs typeface="Calibri" pitchFamily="34" charset="-120"/>
              </a:rPr>
              <a:t>Flesch Score: 68.2  (+49.8  ↑  Standard)</a:t>
            </a:r>
            <a:endParaRPr lang="en-US" sz="1100" dirty="0"/>
          </a:p>
        </p:txBody>
      </p:sp>
      <p:sp>
        <p:nvSpPr>
          <p:cNvPr id="13" name="Text 11"/>
          <p:cNvSpPr/>
          <p:nvPr/>
        </p:nvSpPr>
        <p:spPr>
          <a:xfrm>
            <a:off x="457200" y="4114800"/>
            <a:ext cx="8229600" cy="411480"/>
          </a:xfrm>
          <a:prstGeom prst="rect">
            <a:avLst/>
          </a:prstGeom>
          <a:noFill/>
          <a:ln/>
        </p:spPr>
        <p:txBody>
          <a:bodyPr wrap="square"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 Entities Extracted:  Licensor [ORG]   ·   Licensee [ORG]   ·   Software [LAW]</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28600"/>
            <a:ext cx="8412480" cy="594360"/>
          </a:xfrm>
          <a:prstGeom prst="rect">
            <a:avLst/>
          </a:prstGeom>
          <a:noFill/>
          <a:ln/>
        </p:spPr>
        <p:txBody>
          <a:bodyPr wrap="square" rtlCol="0" anchor="ctr"/>
          <a:lstStyle/>
          <a:p>
            <a:pPr indent="0" marL="0">
              <a:buNone/>
            </a:pPr>
            <a:r>
              <a:rPr lang="en-US" sz="2800" b="1" dirty="0">
                <a:solidFill>
                  <a:srgbClr val="0D2137"/>
                </a:solidFill>
                <a:latin typeface="Cambria" pitchFamily="34" charset="0"/>
                <a:ea typeface="Cambria" pitchFamily="34" charset="-122"/>
                <a:cs typeface="Cambria" pitchFamily="34" charset="-120"/>
              </a:rPr>
              <a:t>Results &amp; Evaluation</a:t>
            </a:r>
            <a:endParaRPr lang="en-US" sz="2800" dirty="0"/>
          </a:p>
        </p:txBody>
      </p:sp>
      <p:sp>
        <p:nvSpPr>
          <p:cNvPr id="3" name="Shape 1"/>
          <p:cNvSpPr/>
          <p:nvPr/>
        </p:nvSpPr>
        <p:spPr>
          <a:xfrm>
            <a:off x="365760" y="804672"/>
            <a:ext cx="8412480" cy="36576"/>
          </a:xfrm>
          <a:prstGeom prst="rect">
            <a:avLst/>
          </a:prstGeom>
          <a:solidFill>
            <a:srgbClr val="0D7377"/>
          </a:solidFill>
          <a:ln/>
        </p:spPr>
      </p:sp>
      <p:sp>
        <p:nvSpPr>
          <p:cNvPr id="4" name="Shape 2"/>
          <p:cNvSpPr/>
          <p:nvPr/>
        </p:nvSpPr>
        <p:spPr>
          <a:xfrm>
            <a:off x="365760" y="960120"/>
            <a:ext cx="2011680" cy="12344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5" name="Shape 3"/>
          <p:cNvSpPr/>
          <p:nvPr/>
        </p:nvSpPr>
        <p:spPr>
          <a:xfrm>
            <a:off x="365760" y="960120"/>
            <a:ext cx="2011680" cy="73152"/>
          </a:xfrm>
          <a:prstGeom prst="rect">
            <a:avLst/>
          </a:prstGeom>
          <a:solidFill>
            <a:srgbClr val="0D7377"/>
          </a:solidFill>
          <a:ln/>
        </p:spPr>
      </p:sp>
      <p:sp>
        <p:nvSpPr>
          <p:cNvPr id="6" name="Text 4"/>
          <p:cNvSpPr/>
          <p:nvPr/>
        </p:nvSpPr>
        <p:spPr>
          <a:xfrm>
            <a:off x="365760" y="1097280"/>
            <a:ext cx="2011680" cy="548640"/>
          </a:xfrm>
          <a:prstGeom prst="rect">
            <a:avLst/>
          </a:prstGeom>
          <a:noFill/>
          <a:ln/>
        </p:spPr>
        <p:txBody>
          <a:bodyPr wrap="square" rtlCol="0" anchor="ctr"/>
          <a:lstStyle/>
          <a:p>
            <a:pPr algn="ctr" indent="0" marL="0">
              <a:buNone/>
            </a:pPr>
            <a:r>
              <a:rPr lang="en-US" sz="2800" b="1" dirty="0">
                <a:solidFill>
                  <a:srgbClr val="0D7377"/>
                </a:solidFill>
                <a:latin typeface="Cambria" pitchFamily="34" charset="0"/>
                <a:ea typeface="Cambria" pitchFamily="34" charset="-122"/>
                <a:cs typeface="Cambria" pitchFamily="34" charset="-120"/>
              </a:rPr>
              <a:t>18 → 68</a:t>
            </a:r>
            <a:endParaRPr lang="en-US" sz="2800" dirty="0"/>
          </a:p>
        </p:txBody>
      </p:sp>
      <p:sp>
        <p:nvSpPr>
          <p:cNvPr id="7" name="Text 5"/>
          <p:cNvSpPr/>
          <p:nvPr/>
        </p:nvSpPr>
        <p:spPr>
          <a:xfrm>
            <a:off x="365760" y="1664208"/>
            <a:ext cx="2011680" cy="274320"/>
          </a:xfrm>
          <a:prstGeom prst="rect">
            <a:avLst/>
          </a:prstGeom>
          <a:noFill/>
          <a:ln/>
        </p:spPr>
        <p:txBody>
          <a:bodyPr wrap="square" rtlCol="0" anchor="ctr"/>
          <a:lstStyle/>
          <a:p>
            <a:pPr algn="ctr" indent="0" marL="0">
              <a:buNone/>
            </a:pPr>
            <a:r>
              <a:rPr lang="en-US" sz="1100" b="1" dirty="0">
                <a:solidFill>
                  <a:srgbClr val="0D2137"/>
                </a:solidFill>
                <a:latin typeface="Calibri" pitchFamily="34" charset="0"/>
                <a:ea typeface="Calibri" pitchFamily="34" charset="-122"/>
                <a:cs typeface="Calibri" pitchFamily="34" charset="-120"/>
              </a:rPr>
              <a:t>Flesch RE Score</a:t>
            </a:r>
            <a:endParaRPr lang="en-US" sz="1100" dirty="0"/>
          </a:p>
        </p:txBody>
      </p:sp>
      <p:sp>
        <p:nvSpPr>
          <p:cNvPr id="8" name="Text 6"/>
          <p:cNvSpPr/>
          <p:nvPr/>
        </p:nvSpPr>
        <p:spPr>
          <a:xfrm>
            <a:off x="365760" y="1920240"/>
            <a:ext cx="2011680" cy="22860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License Agreement</a:t>
            </a:r>
            <a:endParaRPr lang="en-US" sz="900" dirty="0"/>
          </a:p>
        </p:txBody>
      </p:sp>
      <p:sp>
        <p:nvSpPr>
          <p:cNvPr id="9" name="Shape 7"/>
          <p:cNvSpPr/>
          <p:nvPr/>
        </p:nvSpPr>
        <p:spPr>
          <a:xfrm>
            <a:off x="2514600" y="960120"/>
            <a:ext cx="2011680" cy="12344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0" name="Shape 8"/>
          <p:cNvSpPr/>
          <p:nvPr/>
        </p:nvSpPr>
        <p:spPr>
          <a:xfrm>
            <a:off x="2514600" y="960120"/>
            <a:ext cx="2011680" cy="73152"/>
          </a:xfrm>
          <a:prstGeom prst="rect">
            <a:avLst/>
          </a:prstGeom>
          <a:solidFill>
            <a:srgbClr val="5B6AF7"/>
          </a:solidFill>
          <a:ln/>
        </p:spPr>
      </p:sp>
      <p:sp>
        <p:nvSpPr>
          <p:cNvPr id="11" name="Text 9"/>
          <p:cNvSpPr/>
          <p:nvPr/>
        </p:nvSpPr>
        <p:spPr>
          <a:xfrm>
            <a:off x="2514600" y="1097280"/>
            <a:ext cx="2011680" cy="548640"/>
          </a:xfrm>
          <a:prstGeom prst="rect">
            <a:avLst/>
          </a:prstGeom>
          <a:noFill/>
          <a:ln/>
        </p:spPr>
        <p:txBody>
          <a:bodyPr wrap="square" rtlCol="0" anchor="ctr"/>
          <a:lstStyle/>
          <a:p>
            <a:pPr algn="ctr" indent="0" marL="0">
              <a:buNone/>
            </a:pPr>
            <a:r>
              <a:rPr lang="en-US" sz="2800" b="1" dirty="0">
                <a:solidFill>
                  <a:srgbClr val="5B6AF7"/>
                </a:solidFill>
                <a:latin typeface="Cambria" pitchFamily="34" charset="0"/>
                <a:ea typeface="Cambria" pitchFamily="34" charset="-122"/>
                <a:cs typeface="Cambria" pitchFamily="34" charset="-120"/>
              </a:rPr>
              <a:t>+49.8</a:t>
            </a:r>
            <a:endParaRPr lang="en-US" sz="2800" dirty="0"/>
          </a:p>
        </p:txBody>
      </p:sp>
      <p:sp>
        <p:nvSpPr>
          <p:cNvPr id="12" name="Text 10"/>
          <p:cNvSpPr/>
          <p:nvPr/>
        </p:nvSpPr>
        <p:spPr>
          <a:xfrm>
            <a:off x="2514600" y="1664208"/>
            <a:ext cx="2011680" cy="274320"/>
          </a:xfrm>
          <a:prstGeom prst="rect">
            <a:avLst/>
          </a:prstGeom>
          <a:noFill/>
          <a:ln/>
        </p:spPr>
        <p:txBody>
          <a:bodyPr wrap="square" rtlCol="0" anchor="ctr"/>
          <a:lstStyle/>
          <a:p>
            <a:pPr algn="ctr" indent="0" marL="0">
              <a:buNone/>
            </a:pPr>
            <a:r>
              <a:rPr lang="en-US" sz="1100" b="1" dirty="0">
                <a:solidFill>
                  <a:srgbClr val="0D2137"/>
                </a:solidFill>
                <a:latin typeface="Calibri" pitchFamily="34" charset="0"/>
                <a:ea typeface="Calibri" pitchFamily="34" charset="-122"/>
                <a:cs typeface="Calibri" pitchFamily="34" charset="-120"/>
              </a:rPr>
              <a:t>Avg. Readability Gain</a:t>
            </a:r>
            <a:endParaRPr lang="en-US" sz="1100" dirty="0"/>
          </a:p>
        </p:txBody>
      </p:sp>
      <p:sp>
        <p:nvSpPr>
          <p:cNvPr id="13" name="Text 11"/>
          <p:cNvSpPr/>
          <p:nvPr/>
        </p:nvSpPr>
        <p:spPr>
          <a:xfrm>
            <a:off x="2514600" y="1920240"/>
            <a:ext cx="2011680" cy="22860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Across 3 test docs</a:t>
            </a:r>
            <a:endParaRPr lang="en-US" sz="900" dirty="0"/>
          </a:p>
        </p:txBody>
      </p:sp>
      <p:sp>
        <p:nvSpPr>
          <p:cNvPr id="14" name="Shape 12"/>
          <p:cNvSpPr/>
          <p:nvPr/>
        </p:nvSpPr>
        <p:spPr>
          <a:xfrm>
            <a:off x="4663440" y="960120"/>
            <a:ext cx="2011680" cy="12344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5" name="Shape 13"/>
          <p:cNvSpPr/>
          <p:nvPr/>
        </p:nvSpPr>
        <p:spPr>
          <a:xfrm>
            <a:off x="4663440" y="960120"/>
            <a:ext cx="2011680" cy="73152"/>
          </a:xfrm>
          <a:prstGeom prst="rect">
            <a:avLst/>
          </a:prstGeom>
          <a:solidFill>
            <a:srgbClr val="E87A2A"/>
          </a:solidFill>
          <a:ln/>
        </p:spPr>
      </p:sp>
      <p:sp>
        <p:nvSpPr>
          <p:cNvPr id="16" name="Text 14"/>
          <p:cNvSpPr/>
          <p:nvPr/>
        </p:nvSpPr>
        <p:spPr>
          <a:xfrm>
            <a:off x="4663440" y="1097280"/>
            <a:ext cx="2011680" cy="548640"/>
          </a:xfrm>
          <a:prstGeom prst="rect">
            <a:avLst/>
          </a:prstGeom>
          <a:noFill/>
          <a:ln/>
        </p:spPr>
        <p:txBody>
          <a:bodyPr wrap="square" rtlCol="0" anchor="ctr"/>
          <a:lstStyle/>
          <a:p>
            <a:pPr algn="ctr" indent="0" marL="0">
              <a:buNone/>
            </a:pPr>
            <a:r>
              <a:rPr lang="en-US" sz="2800" b="1" dirty="0">
                <a:solidFill>
                  <a:srgbClr val="E87A2A"/>
                </a:solidFill>
                <a:latin typeface="Cambria" pitchFamily="34" charset="0"/>
                <a:ea typeface="Cambria" pitchFamily="34" charset="-122"/>
                <a:cs typeface="Cambria" pitchFamily="34" charset="-120"/>
              </a:rPr>
              <a:t>14→6</a:t>
            </a:r>
            <a:endParaRPr lang="en-US" sz="2800" dirty="0"/>
          </a:p>
        </p:txBody>
      </p:sp>
      <p:sp>
        <p:nvSpPr>
          <p:cNvPr id="17" name="Text 15"/>
          <p:cNvSpPr/>
          <p:nvPr/>
        </p:nvSpPr>
        <p:spPr>
          <a:xfrm>
            <a:off x="4663440" y="1664208"/>
            <a:ext cx="2011680" cy="274320"/>
          </a:xfrm>
          <a:prstGeom prst="rect">
            <a:avLst/>
          </a:prstGeom>
          <a:noFill/>
          <a:ln/>
        </p:spPr>
        <p:txBody>
          <a:bodyPr wrap="square" rtlCol="0" anchor="ctr"/>
          <a:lstStyle/>
          <a:p>
            <a:pPr algn="ctr" indent="0" marL="0">
              <a:buNone/>
            </a:pPr>
            <a:r>
              <a:rPr lang="en-US" sz="1100" b="1" dirty="0">
                <a:solidFill>
                  <a:srgbClr val="0D2137"/>
                </a:solidFill>
                <a:latin typeface="Calibri" pitchFamily="34" charset="0"/>
                <a:ea typeface="Calibri" pitchFamily="34" charset="-122"/>
                <a:cs typeface="Calibri" pitchFamily="34" charset="-120"/>
              </a:rPr>
              <a:t>FK Grade Level</a:t>
            </a:r>
            <a:endParaRPr lang="en-US" sz="1100" dirty="0"/>
          </a:p>
        </p:txBody>
      </p:sp>
      <p:sp>
        <p:nvSpPr>
          <p:cNvPr id="18" name="Text 16"/>
          <p:cNvSpPr/>
          <p:nvPr/>
        </p:nvSpPr>
        <p:spPr>
          <a:xfrm>
            <a:off x="4663440" y="1920240"/>
            <a:ext cx="2011680" cy="22860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College → HS level</a:t>
            </a:r>
            <a:endParaRPr lang="en-US" sz="900" dirty="0"/>
          </a:p>
        </p:txBody>
      </p:sp>
      <p:sp>
        <p:nvSpPr>
          <p:cNvPr id="19" name="Shape 17"/>
          <p:cNvSpPr/>
          <p:nvPr/>
        </p:nvSpPr>
        <p:spPr>
          <a:xfrm>
            <a:off x="6812280" y="960120"/>
            <a:ext cx="2011680" cy="12344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0" name="Shape 18"/>
          <p:cNvSpPr/>
          <p:nvPr/>
        </p:nvSpPr>
        <p:spPr>
          <a:xfrm>
            <a:off x="6812280" y="960120"/>
            <a:ext cx="2011680" cy="73152"/>
          </a:xfrm>
          <a:prstGeom prst="rect">
            <a:avLst/>
          </a:prstGeom>
          <a:solidFill>
            <a:srgbClr val="B0363A"/>
          </a:solidFill>
          <a:ln/>
        </p:spPr>
      </p:sp>
      <p:sp>
        <p:nvSpPr>
          <p:cNvPr id="21" name="Text 19"/>
          <p:cNvSpPr/>
          <p:nvPr/>
        </p:nvSpPr>
        <p:spPr>
          <a:xfrm>
            <a:off x="6812280" y="1097280"/>
            <a:ext cx="2011680" cy="548640"/>
          </a:xfrm>
          <a:prstGeom prst="rect">
            <a:avLst/>
          </a:prstGeom>
          <a:noFill/>
          <a:ln/>
        </p:spPr>
        <p:txBody>
          <a:bodyPr wrap="square" rtlCol="0" anchor="ctr"/>
          <a:lstStyle/>
          <a:p>
            <a:pPr algn="ctr" indent="0" marL="0">
              <a:buNone/>
            </a:pPr>
            <a:r>
              <a:rPr lang="en-US" sz="2800" b="1" dirty="0">
                <a:solidFill>
                  <a:srgbClr val="B0363A"/>
                </a:solidFill>
                <a:latin typeface="Cambria" pitchFamily="34" charset="0"/>
                <a:ea typeface="Cambria" pitchFamily="34" charset="-122"/>
                <a:cs typeface="Cambria" pitchFamily="34" charset="-120"/>
              </a:rPr>
              <a:t>100%</a:t>
            </a:r>
            <a:endParaRPr lang="en-US" sz="2800" dirty="0"/>
          </a:p>
        </p:txBody>
      </p:sp>
      <p:sp>
        <p:nvSpPr>
          <p:cNvPr id="22" name="Text 20"/>
          <p:cNvSpPr/>
          <p:nvPr/>
        </p:nvSpPr>
        <p:spPr>
          <a:xfrm>
            <a:off x="6812280" y="1664208"/>
            <a:ext cx="2011680" cy="274320"/>
          </a:xfrm>
          <a:prstGeom prst="rect">
            <a:avLst/>
          </a:prstGeom>
          <a:noFill/>
          <a:ln/>
        </p:spPr>
        <p:txBody>
          <a:bodyPr wrap="square" rtlCol="0" anchor="ctr"/>
          <a:lstStyle/>
          <a:p>
            <a:pPr algn="ctr" indent="0" marL="0">
              <a:buNone/>
            </a:pPr>
            <a:r>
              <a:rPr lang="en-US" sz="1100" b="1" dirty="0">
                <a:solidFill>
                  <a:srgbClr val="0D2137"/>
                </a:solidFill>
                <a:latin typeface="Calibri" pitchFamily="34" charset="0"/>
                <a:ea typeface="Calibri" pitchFamily="34" charset="-122"/>
                <a:cs typeface="Calibri" pitchFamily="34" charset="-120"/>
              </a:rPr>
              <a:t>NER Accuracy</a:t>
            </a:r>
            <a:endParaRPr lang="en-US" sz="1100" dirty="0"/>
          </a:p>
        </p:txBody>
      </p:sp>
      <p:sp>
        <p:nvSpPr>
          <p:cNvPr id="23" name="Text 21"/>
          <p:cNvSpPr/>
          <p:nvPr/>
        </p:nvSpPr>
        <p:spPr>
          <a:xfrm>
            <a:off x="6812280" y="1920240"/>
            <a:ext cx="2011680" cy="22860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On known legal terms</a:t>
            </a:r>
            <a:endParaRPr lang="en-US" sz="900" dirty="0"/>
          </a:p>
        </p:txBody>
      </p:sp>
      <p:graphicFrame>
        <p:nvGraphicFramePr>
          <p:cNvPr id="24" name="Chart 0" descr=""/>
          <p:cNvGraphicFramePr/>
          <p:nvPr/>
        </p:nvGraphicFramePr>
        <p:xfrm>
          <a:off x="365760" y="2377440"/>
          <a:ext cx="8412480" cy="24688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7377"/>
          </a:solidFill>
          <a:ln/>
        </p:spPr>
      </p:sp>
      <p:sp>
        <p:nvSpPr>
          <p:cNvPr id="3" name="Text 1"/>
          <p:cNvSpPr/>
          <p:nvPr/>
        </p:nvSpPr>
        <p:spPr>
          <a:xfrm>
            <a:off x="457200" y="228600"/>
            <a:ext cx="8229600" cy="5943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Conclusion &amp; Future Work</a:t>
            </a:r>
            <a:endParaRPr lang="en-US" sz="2800" dirty="0"/>
          </a:p>
        </p:txBody>
      </p:sp>
      <p:sp>
        <p:nvSpPr>
          <p:cNvPr id="4" name="Shape 2"/>
          <p:cNvSpPr/>
          <p:nvPr/>
        </p:nvSpPr>
        <p:spPr>
          <a:xfrm>
            <a:off x="457200" y="804672"/>
            <a:ext cx="8229600" cy="36576"/>
          </a:xfrm>
          <a:prstGeom prst="rect">
            <a:avLst/>
          </a:prstGeom>
          <a:solidFill>
            <a:srgbClr val="0D7377"/>
          </a:solidFill>
          <a:ln/>
        </p:spPr>
      </p:sp>
      <p:sp>
        <p:nvSpPr>
          <p:cNvPr id="5" name="Text 3"/>
          <p:cNvSpPr/>
          <p:nvPr/>
        </p:nvSpPr>
        <p:spPr>
          <a:xfrm>
            <a:off x="457200" y="1005840"/>
            <a:ext cx="8229600" cy="38404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Successfully built an end-to-end NLP pipeline for legal text simplification</a:t>
            </a:r>
            <a:endParaRPr lang="en-US" sz="1300" dirty="0"/>
          </a:p>
        </p:txBody>
      </p:sp>
      <p:sp>
        <p:nvSpPr>
          <p:cNvPr id="6" name="Text 4"/>
          <p:cNvSpPr/>
          <p:nvPr/>
        </p:nvSpPr>
        <p:spPr>
          <a:xfrm>
            <a:off x="457200" y="1463040"/>
            <a:ext cx="8229600" cy="38404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Achieved an average Flesch Reading Ease improvement of +49 points</a:t>
            </a:r>
            <a:endParaRPr lang="en-US" sz="1300" dirty="0"/>
          </a:p>
        </p:txBody>
      </p:sp>
      <p:sp>
        <p:nvSpPr>
          <p:cNvPr id="7" name="Text 5"/>
          <p:cNvSpPr/>
          <p:nvPr/>
        </p:nvSpPr>
        <p:spPr>
          <a:xfrm>
            <a:off x="457200" y="1920240"/>
            <a:ext cx="8229600" cy="38404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spaCy NER accurately identifies parties, laws, dates, and monetary values</a:t>
            </a:r>
            <a:endParaRPr lang="en-US" sz="1300" dirty="0"/>
          </a:p>
        </p:txBody>
      </p:sp>
      <p:sp>
        <p:nvSpPr>
          <p:cNvPr id="8" name="Text 6"/>
          <p:cNvSpPr/>
          <p:nvPr/>
        </p:nvSpPr>
        <p:spPr>
          <a:xfrm>
            <a:off x="457200" y="2377440"/>
            <a:ext cx="8229600" cy="38404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Streamlit UI provides instant, browser-based access for any user</a:t>
            </a:r>
            <a:endParaRPr lang="en-US" sz="1300" dirty="0"/>
          </a:p>
        </p:txBody>
      </p:sp>
      <p:sp>
        <p:nvSpPr>
          <p:cNvPr id="9" name="Text 7"/>
          <p:cNvSpPr/>
          <p:nvPr/>
        </p:nvSpPr>
        <p:spPr>
          <a:xfrm>
            <a:off x="457200" y="2944368"/>
            <a:ext cx="8229600" cy="384048"/>
          </a:xfrm>
          <a:prstGeom prst="rect">
            <a:avLst/>
          </a:prstGeom>
          <a:noFill/>
          <a:ln/>
        </p:spPr>
        <p:txBody>
          <a:bodyPr wrap="square" rtlCol="0" anchor="ctr"/>
          <a:lstStyle/>
          <a:p>
            <a:pPr indent="0" marL="0">
              <a:buNone/>
            </a:pPr>
            <a:r>
              <a:rPr lang="en-US" sz="1500" b="1" dirty="0">
                <a:solidFill>
                  <a:srgbClr val="0D7377"/>
                </a:solidFill>
                <a:latin typeface="Cambria" pitchFamily="34" charset="0"/>
                <a:ea typeface="Cambria" pitchFamily="34" charset="-122"/>
                <a:cs typeface="Cambria" pitchFamily="34" charset="-120"/>
              </a:rPr>
              <a:t>🚀  Future Improvements</a:t>
            </a:r>
            <a:endParaRPr lang="en-US" sz="1500" dirty="0"/>
          </a:p>
        </p:txBody>
      </p:sp>
      <p:sp>
        <p:nvSpPr>
          <p:cNvPr id="10" name="Text 8"/>
          <p:cNvSpPr/>
          <p:nvPr/>
        </p:nvSpPr>
        <p:spPr>
          <a:xfrm>
            <a:off x="457200" y="3456432"/>
            <a:ext cx="4023360" cy="5029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Multi-language support (Hindi, Tamil, Telugu) for regional legal documents</a:t>
            </a:r>
            <a:endParaRPr lang="en-US" sz="1100" dirty="0"/>
          </a:p>
        </p:txBody>
      </p:sp>
      <p:sp>
        <p:nvSpPr>
          <p:cNvPr id="11" name="Text 9"/>
          <p:cNvSpPr/>
          <p:nvPr/>
        </p:nvSpPr>
        <p:spPr>
          <a:xfrm>
            <a:off x="4663440" y="3456432"/>
            <a:ext cx="4023360" cy="5029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Fine-tune LegalBERT / InLegalBERT on Indian legal corpus</a:t>
            </a:r>
            <a:endParaRPr lang="en-US" sz="1100" dirty="0"/>
          </a:p>
        </p:txBody>
      </p:sp>
      <p:sp>
        <p:nvSpPr>
          <p:cNvPr id="12" name="Text 10"/>
          <p:cNvSpPr/>
          <p:nvPr/>
        </p:nvSpPr>
        <p:spPr>
          <a:xfrm>
            <a:off x="457200" y="4050792"/>
            <a:ext cx="4023360" cy="5029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Text-to-speech output for visually impaired and illiterate citizens</a:t>
            </a:r>
            <a:endParaRPr lang="en-US" sz="1100" dirty="0"/>
          </a:p>
        </p:txBody>
      </p:sp>
      <p:sp>
        <p:nvSpPr>
          <p:cNvPr id="13" name="Text 11"/>
          <p:cNvSpPr/>
          <p:nvPr/>
        </p:nvSpPr>
        <p:spPr>
          <a:xfrm>
            <a:off x="4663440" y="4050792"/>
            <a:ext cx="4023360" cy="5029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Cloud deployment (Hugging Face Spaces / AWS) for public access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Legal Document Simplification</dc:title>
  <dc:subject>PptxGenJS Presentation</dc:subject>
  <dc:creator>NLP Mini-Project</dc:creator>
  <cp:lastModifiedBy>NLP Mini-Project</cp:lastModifiedBy>
  <cp:revision>1</cp:revision>
  <dcterms:created xsi:type="dcterms:W3CDTF">2026-04-15T20:12:01Z</dcterms:created>
  <dcterms:modified xsi:type="dcterms:W3CDTF">2026-04-15T20:12:01Z</dcterms:modified>
</cp:coreProperties>
</file>